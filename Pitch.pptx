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8" r:id="rId2"/>
    <p:sldId id="260" r:id="rId3"/>
    <p:sldId id="263" r:id="rId4"/>
    <p:sldId id="264" r:id="rId5"/>
    <p:sldId id="265" r:id="rId6"/>
    <p:sldId id="266" r:id="rId7"/>
    <p:sldId id="267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296" userDrawn="1">
          <p15:clr>
            <a:srgbClr val="A4A3A4"/>
          </p15:clr>
        </p15:guide>
        <p15:guide id="4" pos="4872" userDrawn="1">
          <p15:clr>
            <a:srgbClr val="A4A3A4"/>
          </p15:clr>
        </p15:guide>
        <p15:guide id="5" orient="horz" pos="2016" userDrawn="1">
          <p15:clr>
            <a:srgbClr val="A4A3A4"/>
          </p15:clr>
        </p15:guide>
        <p15:guide id="6" pos="49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9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73"/>
  </p:normalViewPr>
  <p:slideViewPr>
    <p:cSldViewPr snapToGrid="0" showGuides="1">
      <p:cViewPr>
        <p:scale>
          <a:sx n="127" d="100"/>
          <a:sy n="127" d="100"/>
        </p:scale>
        <p:origin x="152" y="152"/>
      </p:cViewPr>
      <p:guideLst>
        <p:guide orient="horz" pos="1032"/>
        <p:guide pos="3840"/>
        <p:guide orient="horz" pos="1296"/>
        <p:guide pos="4872"/>
        <p:guide orient="horz" pos="2016"/>
        <p:guide pos="49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7C37D-7BDA-1B43-A288-42F336ABD5B5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FF148-4988-F043-BC56-6FA320950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56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59A36-2DF9-C4D0-364C-0E7CBCCA7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31F0F-F055-B592-EFD7-AFCB418B7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6FEFA-0AB4-014E-E882-4D3C57535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0D19DA7-A6BB-1E4A-B841-C045536A5A97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617E3-0C4B-085C-B232-28D6B43A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697CE-2DA1-52A1-DC0E-A15783C40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782C88-8D7F-FA4B-9D04-DF06D6EBA9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990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B9F01-B45B-4316-8C67-04ADB6A7C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4B7F7-60C9-7B4B-B86E-5121C64C7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9C773-318E-654D-8C8D-482066E2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12A9FF-870A-4040-B8AF-C58A6BBBB242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4D170-8568-0604-41A5-0C3065FE5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AD278-66B7-F564-6750-9E8B3512A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782C88-8D7F-FA4B-9D04-DF06D6EBA9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17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30DE0-C326-88C4-0F55-B1486DC0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84085-943C-DADD-3200-55F3FBCBE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3215A-EA7F-CD66-2C3C-BB3EBC021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F82D36-AA7F-3D4A-A99C-E58A47C46E8D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FC428-CF42-B952-4847-EB3CFFC45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C9909-FBCE-BDBB-90C2-EE65A8D4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782C88-8D7F-FA4B-9D04-DF06D6EBA9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39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4645B-9E06-0754-FFB8-4296FB44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1BF9F-7034-C075-9DDD-FC3D7EDF63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8FEC6-62DA-0BC9-7D9F-0C18425AF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778B3-28AB-2C03-F56F-4A4700891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C3D8B75-A54E-0A47-A030-AA45812F6317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A58CD-07EF-432E-7AF3-57760734D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EEAB4-CA52-1C06-67E8-A4BD059A8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782C88-8D7F-FA4B-9D04-DF06D6EBA9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971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AB7C6-315F-4241-0373-1AD8D92C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1331D-F0AE-C127-79D6-4327382D9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C85F1E-9589-53F5-D1F8-DBB7FB2C4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F089E-0511-B3A4-5F26-397925AA4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F4E5C-B868-DF0D-15E2-5836512C8A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08D1C7-E849-5131-DAF9-69C7914F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1445EA-D66D-B44E-BDB7-3BDFDCE59285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092B82-53DF-FAA5-4C64-51CBC13B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CCB608-2758-9EB8-3F33-8BF612BC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782C88-8D7F-FA4B-9D04-DF06D6EBA9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256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7B5D2-48D1-9A5D-6A0E-D175C545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9149B6-9BA5-7320-E69F-83D7FD87E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E5E66E-D869-6B4C-B7A8-864744B54755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FD13A1-8AA0-F3EB-1152-D147F334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47CB6F-6625-6D31-FD0A-AEFEF0417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782C88-8D7F-FA4B-9D04-DF06D6EBA9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56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CFD39D-7A79-C49A-36F2-97BBAA95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022DC5-E076-7042-84F0-87DE15B3C54F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BD8998-5828-69B9-6689-85F811A03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7CEED-7D44-7D10-425E-4F6517992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782C88-8D7F-FA4B-9D04-DF06D6EBA9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20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B4F3F-C7AC-C2E6-9789-179F39908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B7A21-2B10-7D0B-273F-4A555AAE4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840DD-20EC-D261-6066-98F5C5EF6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C6840-2212-A7EC-D843-A7E5CC472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E53FCB-7CD6-1646-8D25-2D7CE507ACB1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08BE2-10EE-6B54-207E-622E487A9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CFE5B-F5FC-5A92-03C6-6BDF59BC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782C88-8D7F-FA4B-9D04-DF06D6EBA9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15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0876E-05ED-3E7D-56D9-0AC622D00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F10253-2021-C8CD-2A8B-AFC3C4158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64309-7351-29EF-9059-62626D3E4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D9123-1F0D-9148-03B3-D4F7ED63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9714B67-1589-FA40-B468-ECD40DD2375F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CF0C7-F453-31F3-0D59-CEEDD260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B4284-FC66-FD2D-B8F1-1B150D5F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782C88-8D7F-FA4B-9D04-DF06D6EBA9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791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B0B18-4ABD-BBF3-7915-58FADD506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6DCC07-C411-45BA-25DE-704619289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09DE2-164F-5277-BAC9-8A162541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4FF4F3-6F1D-3341-AABE-128A38641735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7801C-8445-FFF2-0F07-286C07DF6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E78D9-24EE-DE0E-CA65-43AA7BAFC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782C88-8D7F-FA4B-9D04-DF06D6EBA9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827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216423-CA79-2F2A-B6BB-549D2A1C63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6B2C1F-7B04-AF50-3BDE-B358E808F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F117C-6B1A-FA08-D0D8-A33BD820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B432B2-2BB1-7B4E-99B9-EA2193C84D72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368F0-BCB4-6E60-42F9-E9544932D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B05B9-7A4A-8D79-4D62-98F8980B9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782C88-8D7F-FA4B-9D04-DF06D6EBA9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55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493DF8-AF7A-22E0-5169-CBE31EEA0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3A6D-601E-254C-D311-2B48A6101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B7CEB-B9E6-AD8E-81F1-4AEECF9B8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100E95E-ED3C-5D47-8E17-A2BB80E39684}" type="datetime1">
              <a:rPr lang="en-US" smtClean="0"/>
              <a:t>4/19/26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F26B3-D69D-C504-1D42-49A3203AA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r>
              <a:rPr lang="en-US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87FDA-2D78-EEF2-57E6-3D4847492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0782C88-8D7F-FA4B-9D04-DF06D6EBA9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95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mediafoundation.org/#map-1752170660413" TargetMode="External"/><Relationship Id="rId2" Type="http://schemas.openxmlformats.org/officeDocument/2006/relationships/hyperlink" Target="https://wikimediafoundation.org/#:~:text=With%20over%2065%20million%20articles,home%20of%20trusted%20information%20onlin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C1AC12-694F-EB9D-9124-1653F7EE24C2}"/>
              </a:ext>
            </a:extLst>
          </p:cNvPr>
          <p:cNvSpPr/>
          <p:nvPr/>
        </p:nvSpPr>
        <p:spPr>
          <a:xfrm>
            <a:off x="0" y="0"/>
            <a:ext cx="5873262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01CED-692C-6D5E-FCA7-10848717E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19DA7-A6BB-1E4A-B841-C045536A5A97}" type="datetime1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4/19/26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5FD8D-988E-D116-CA48-AC5BF84CB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 spc="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F0EBA-D958-9417-076F-11F641FEA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82C88-8D7F-FA4B-9D04-DF06D6EBA905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1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D5CDBE80-3E9E-0338-871A-4593AC6A3F15}"/>
              </a:ext>
            </a:extLst>
          </p:cNvPr>
          <p:cNvSpPr/>
          <p:nvPr/>
        </p:nvSpPr>
        <p:spPr>
          <a:xfrm>
            <a:off x="0" y="0"/>
            <a:ext cx="5873262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2000" b="1" dirty="0">
                <a:solidFill>
                  <a:srgbClr val="FFFFFF">
                    <a:alpha val="7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4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FD99C-5997-FE6F-BEA6-329806D49C9C}"/>
              </a:ext>
            </a:extLst>
          </p:cNvPr>
          <p:cNvSpPr txBox="1"/>
          <p:nvPr/>
        </p:nvSpPr>
        <p:spPr>
          <a:xfrm>
            <a:off x="879231" y="2136338"/>
            <a:ext cx="4114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 edit wars leave a trace in the text?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EBC6B4-646F-0498-E763-79848AF91F30}"/>
              </a:ext>
            </a:extLst>
          </p:cNvPr>
          <p:cNvSpPr txBox="1"/>
          <p:nvPr/>
        </p:nvSpPr>
        <p:spPr>
          <a:xfrm>
            <a:off x="162658" y="4721661"/>
            <a:ext cx="55479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editorial contestation from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features English &amp; German </a:t>
            </a: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Wikipedia Main Articles + Wiki Talk </a:t>
            </a:r>
            <a:endParaRPr lang="en-US" sz="1800" dirty="0">
              <a:solidFill>
                <a:schemeClr val="bg1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536C63-6079-115E-D04B-C74DCB131D9C}"/>
              </a:ext>
            </a:extLst>
          </p:cNvPr>
          <p:cNvGrpSpPr/>
          <p:nvPr/>
        </p:nvGrpSpPr>
        <p:grpSpPr>
          <a:xfrm>
            <a:off x="7112280" y="1100896"/>
            <a:ext cx="3794760" cy="4656208"/>
            <a:chOff x="7112280" y="1281749"/>
            <a:chExt cx="3794760" cy="4656208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78FC77C-C63F-50A2-4750-60EAD81E8B5A}"/>
                </a:ext>
              </a:extLst>
            </p:cNvPr>
            <p:cNvGrpSpPr/>
            <p:nvPr/>
          </p:nvGrpSpPr>
          <p:grpSpPr>
            <a:xfrm>
              <a:off x="7112280" y="1281749"/>
              <a:ext cx="3794760" cy="1325880"/>
              <a:chOff x="7149904" y="1287829"/>
              <a:chExt cx="3794760" cy="1325880"/>
            </a:xfrm>
          </p:grpSpPr>
          <p:sp>
            <p:nvSpPr>
              <p:cNvPr id="14" name="Shape 6">
                <a:extLst>
                  <a:ext uri="{FF2B5EF4-FFF2-40B4-BE49-F238E27FC236}">
                    <a16:creationId xmlns:a16="http://schemas.microsoft.com/office/drawing/2014/main" id="{1DD90142-0E84-8C4A-5669-1CB866CC209E}"/>
                  </a:ext>
                </a:extLst>
              </p:cNvPr>
              <p:cNvSpPr/>
              <p:nvPr/>
            </p:nvSpPr>
            <p:spPr>
              <a:xfrm>
                <a:off x="7149904" y="1287829"/>
                <a:ext cx="3794760" cy="1325880"/>
              </a:xfrm>
              <a:prstGeom prst="rect">
                <a:avLst/>
              </a:prstGeom>
              <a:solidFill>
                <a:srgbClr val="F8F9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1E293B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5" name="Image 0" descr="preencoded.png">
                <a:extLst>
                  <a:ext uri="{FF2B5EF4-FFF2-40B4-BE49-F238E27FC236}">
                    <a16:creationId xmlns:a16="http://schemas.microsoft.com/office/drawing/2014/main" id="{6B14B6FA-BE9C-20EB-197C-902176F3C9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332784" y="1638222"/>
                <a:ext cx="411480" cy="411480"/>
              </a:xfrm>
              <a:prstGeom prst="rect">
                <a:avLst/>
              </a:prstGeom>
            </p:spPr>
          </p:pic>
          <p:sp>
            <p:nvSpPr>
              <p:cNvPr id="16" name="Text 7">
                <a:extLst>
                  <a:ext uri="{FF2B5EF4-FFF2-40B4-BE49-F238E27FC236}">
                    <a16:creationId xmlns:a16="http://schemas.microsoft.com/office/drawing/2014/main" id="{D43416B7-9BD3-761E-C208-571452F4825A}"/>
                  </a:ext>
                </a:extLst>
              </p:cNvPr>
              <p:cNvSpPr/>
              <p:nvPr/>
            </p:nvSpPr>
            <p:spPr>
              <a:xfrm>
                <a:off x="7927144" y="1659114"/>
                <a:ext cx="1828800" cy="36969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000" b="1" dirty="0">
                    <a:solidFill>
                      <a:srgbClr val="6D28D9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67M+</a:t>
                </a:r>
                <a:endParaRPr lang="en-US" sz="3000" dirty="0"/>
              </a:p>
            </p:txBody>
          </p:sp>
          <p:sp>
            <p:nvSpPr>
              <p:cNvPr id="17" name="Text 8">
                <a:extLst>
                  <a:ext uri="{FF2B5EF4-FFF2-40B4-BE49-F238E27FC236}">
                    <a16:creationId xmlns:a16="http://schemas.microsoft.com/office/drawing/2014/main" id="{320388BB-C6B3-9470-9D1E-E1083D46CC01}"/>
                  </a:ext>
                </a:extLst>
              </p:cNvPr>
              <p:cNvSpPr/>
              <p:nvPr/>
            </p:nvSpPr>
            <p:spPr>
              <a:xfrm>
                <a:off x="7927144" y="2052440"/>
                <a:ext cx="2834640" cy="1920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51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Wikipedia articles</a:t>
                </a:r>
                <a:r>
                  <a:rPr lang="en-US" sz="951" dirty="0"/>
                  <a:t> </a:t>
                </a:r>
                <a:r>
                  <a:rPr lang="en-US" sz="951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across 300 languages</a:t>
                </a:r>
                <a:endParaRPr lang="en-US" sz="951" dirty="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CBAEA33-54C1-9386-C177-EC92260E24C1}"/>
                </a:ext>
              </a:extLst>
            </p:cNvPr>
            <p:cNvGrpSpPr/>
            <p:nvPr/>
          </p:nvGrpSpPr>
          <p:grpSpPr>
            <a:xfrm>
              <a:off x="7112280" y="2946913"/>
              <a:ext cx="3794760" cy="1325880"/>
              <a:chOff x="7149904" y="1336873"/>
              <a:chExt cx="3794760" cy="1325880"/>
            </a:xfrm>
          </p:grpSpPr>
          <p:sp>
            <p:nvSpPr>
              <p:cNvPr id="19" name="Shape 9">
                <a:extLst>
                  <a:ext uri="{FF2B5EF4-FFF2-40B4-BE49-F238E27FC236}">
                    <a16:creationId xmlns:a16="http://schemas.microsoft.com/office/drawing/2014/main" id="{E0D75D6B-97F8-35E1-823B-473A184F10A0}"/>
                  </a:ext>
                </a:extLst>
              </p:cNvPr>
              <p:cNvSpPr/>
              <p:nvPr/>
            </p:nvSpPr>
            <p:spPr>
              <a:xfrm>
                <a:off x="7149904" y="1336873"/>
                <a:ext cx="3794760" cy="1325880"/>
              </a:xfrm>
              <a:prstGeom prst="rect">
                <a:avLst/>
              </a:prstGeom>
              <a:solidFill>
                <a:srgbClr val="F8F9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1E293B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0" name="Image 1" descr="preencoded.png">
                <a:extLst>
                  <a:ext uri="{FF2B5EF4-FFF2-40B4-BE49-F238E27FC236}">
                    <a16:creationId xmlns:a16="http://schemas.microsoft.com/office/drawing/2014/main" id="{AAC44B70-C816-0573-544A-64D3E52753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32784" y="1640911"/>
                <a:ext cx="411480" cy="411480"/>
              </a:xfrm>
              <a:prstGeom prst="rect">
                <a:avLst/>
              </a:prstGeom>
              <a:noFill/>
            </p:spPr>
          </p:pic>
          <p:sp>
            <p:nvSpPr>
              <p:cNvPr id="21" name="Text 10">
                <a:extLst>
                  <a:ext uri="{FF2B5EF4-FFF2-40B4-BE49-F238E27FC236}">
                    <a16:creationId xmlns:a16="http://schemas.microsoft.com/office/drawing/2014/main" id="{94549CB1-762A-6486-B7CB-5641D7CA8680}"/>
                  </a:ext>
                </a:extLst>
              </p:cNvPr>
              <p:cNvSpPr/>
              <p:nvPr/>
            </p:nvSpPr>
            <p:spPr>
              <a:xfrm>
                <a:off x="7927144" y="1688655"/>
                <a:ext cx="1828800" cy="3159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000" b="1" dirty="0">
                    <a:solidFill>
                      <a:srgbClr val="6D28D9"/>
                    </a:solidFill>
                    <a:latin typeface="Georgia" pitchFamily="34" charset="0"/>
                  </a:rPr>
                  <a:t>~ 7.9K</a:t>
                </a:r>
              </a:p>
            </p:txBody>
          </p:sp>
          <p:sp>
            <p:nvSpPr>
              <p:cNvPr id="22" name="Text 11">
                <a:extLst>
                  <a:ext uri="{FF2B5EF4-FFF2-40B4-BE49-F238E27FC236}">
                    <a16:creationId xmlns:a16="http://schemas.microsoft.com/office/drawing/2014/main" id="{81B380CB-0B6B-7704-5E80-271D23AC1F39}"/>
                  </a:ext>
                </a:extLst>
              </p:cNvPr>
              <p:cNvSpPr/>
              <p:nvPr/>
            </p:nvSpPr>
            <p:spPr>
              <a:xfrm>
                <a:off x="7924800" y="2171700"/>
                <a:ext cx="2834640" cy="1371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51" dirty="0">
                    <a:solidFill>
                      <a:srgbClr val="334155"/>
                    </a:solidFill>
                    <a:latin typeface="Calibri" pitchFamily="34" charset="0"/>
                    <a:cs typeface="Calibri" pitchFamily="34" charset="-120"/>
                  </a:rPr>
                  <a:t>Articles actively disputed right now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09652F2-D9BD-3BA8-2683-29B6BFD7F2C5}"/>
                </a:ext>
              </a:extLst>
            </p:cNvPr>
            <p:cNvGrpSpPr/>
            <p:nvPr/>
          </p:nvGrpSpPr>
          <p:grpSpPr>
            <a:xfrm>
              <a:off x="7112280" y="4612077"/>
              <a:ext cx="3794760" cy="1325880"/>
              <a:chOff x="7144880" y="1337315"/>
              <a:chExt cx="3794760" cy="1325880"/>
            </a:xfrm>
          </p:grpSpPr>
          <p:sp>
            <p:nvSpPr>
              <p:cNvPr id="24" name="Shape 12">
                <a:extLst>
                  <a:ext uri="{FF2B5EF4-FFF2-40B4-BE49-F238E27FC236}">
                    <a16:creationId xmlns:a16="http://schemas.microsoft.com/office/drawing/2014/main" id="{C720D75D-E910-2178-8CCB-3A02169CE893}"/>
                  </a:ext>
                </a:extLst>
              </p:cNvPr>
              <p:cNvSpPr/>
              <p:nvPr/>
            </p:nvSpPr>
            <p:spPr>
              <a:xfrm>
                <a:off x="7144880" y="1337315"/>
                <a:ext cx="3794760" cy="1325880"/>
              </a:xfrm>
              <a:prstGeom prst="rect">
                <a:avLst/>
              </a:prstGeom>
              <a:solidFill>
                <a:srgbClr val="F8F9FF"/>
              </a:solidFill>
              <a:ln w="12700">
                <a:solidFill>
                  <a:srgbClr val="E2E8F0"/>
                </a:solidFill>
                <a:prstDash val="solid"/>
              </a:ln>
              <a:effectLst>
                <a:outerShdw blurRad="101600" dist="38100" dir="8100000" algn="bl" rotWithShape="0">
                  <a:srgbClr val="1E293B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25" name="Image 2" descr="preencoded.png">
                <a:extLst>
                  <a:ext uri="{FF2B5EF4-FFF2-40B4-BE49-F238E27FC236}">
                    <a16:creationId xmlns:a16="http://schemas.microsoft.com/office/drawing/2014/main" id="{209F7783-9C0C-F0ED-6B39-937438FF2B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27760" y="1634757"/>
                <a:ext cx="411480" cy="411480"/>
              </a:xfrm>
              <a:prstGeom prst="rect">
                <a:avLst/>
              </a:prstGeom>
            </p:spPr>
          </p:pic>
          <p:sp>
            <p:nvSpPr>
              <p:cNvPr id="26" name="Text 13">
                <a:extLst>
                  <a:ext uri="{FF2B5EF4-FFF2-40B4-BE49-F238E27FC236}">
                    <a16:creationId xmlns:a16="http://schemas.microsoft.com/office/drawing/2014/main" id="{132CB982-1E56-EB8C-997C-19ED2CCBB26E}"/>
                  </a:ext>
                </a:extLst>
              </p:cNvPr>
              <p:cNvSpPr/>
              <p:nvPr/>
            </p:nvSpPr>
            <p:spPr>
              <a:xfrm>
                <a:off x="7922120" y="1655068"/>
                <a:ext cx="1828800" cy="37085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000" b="1" dirty="0">
                    <a:solidFill>
                      <a:srgbClr val="6D28D9"/>
                    </a:solidFill>
                    <a:latin typeface="Georgia" pitchFamily="34" charset="0"/>
                    <a:ea typeface="Georgia" pitchFamily="34" charset="-122"/>
                    <a:cs typeface="Georgia" pitchFamily="34" charset="-120"/>
                  </a:rPr>
                  <a:t>5.7×</a:t>
                </a:r>
                <a:endParaRPr lang="en-US" sz="3000" dirty="0"/>
              </a:p>
            </p:txBody>
          </p:sp>
          <p:sp>
            <p:nvSpPr>
              <p:cNvPr id="27" name="Text 14">
                <a:extLst>
                  <a:ext uri="{FF2B5EF4-FFF2-40B4-BE49-F238E27FC236}">
                    <a16:creationId xmlns:a16="http://schemas.microsoft.com/office/drawing/2014/main" id="{62E9C18E-BF7E-8B03-26A8-FF225E107D32}"/>
                  </a:ext>
                </a:extLst>
              </p:cNvPr>
              <p:cNvSpPr/>
              <p:nvPr/>
            </p:nvSpPr>
            <p:spPr>
              <a:xfrm>
                <a:off x="7922120" y="2144233"/>
                <a:ext cx="2834640" cy="16265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51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Edits per second</a:t>
                </a:r>
                <a:r>
                  <a:rPr lang="en-US" sz="951" dirty="0"/>
                  <a:t> </a:t>
                </a:r>
                <a:r>
                  <a:rPr lang="en-US" sz="951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 2024</a:t>
                </a:r>
                <a:endParaRPr lang="en-US" sz="95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7736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227057-4D28-1159-4A3D-5EF06F83F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2DC5-E076-7042-84F0-87DE15B3C54F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29A06-52B5-85DE-C95D-92917F89E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 spc="20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777E7-3ECB-B690-24B6-F5AF1AE0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82C88-8D7F-FA4B-9D04-DF06D6EBA90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E6642130-ADBB-BE90-9B72-543B33C29024}"/>
              </a:ext>
            </a:extLst>
          </p:cNvPr>
          <p:cNvSpPr/>
          <p:nvPr/>
        </p:nvSpPr>
        <p:spPr>
          <a:xfrm>
            <a:off x="1097736" y="4498850"/>
            <a:ext cx="9996529" cy="628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Calibri" panose="020F0502020204030204" pitchFamily="34" charset="0"/>
                <a:ea typeface="Georgia" pitchFamily="34" charset="-122"/>
                <a:cs typeface="Calibri" panose="020F0502020204030204" pitchFamily="34" charset="0"/>
              </a:rPr>
              <a:t>Our question: Can we detect editorial conflict from the language of the article itself before any human plants a flag?</a:t>
            </a: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E1DBEB1A-9D64-7B06-DEC7-3409F7F85D67}"/>
              </a:ext>
            </a:extLst>
          </p:cNvPr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FC30C42-91F3-FC38-36CF-3D256DF804E3}"/>
              </a:ext>
            </a:extLst>
          </p:cNvPr>
          <p:cNvSpPr/>
          <p:nvPr/>
        </p:nvSpPr>
        <p:spPr>
          <a:xfrm>
            <a:off x="365760" y="640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3F7BD46-6A1F-918B-8693-CE029087BA43}"/>
              </a:ext>
            </a:extLst>
          </p:cNvPr>
          <p:cNvSpPr/>
          <p:nvPr/>
        </p:nvSpPr>
        <p:spPr>
          <a:xfrm>
            <a:off x="365760" y="27432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Wikipedia works... until it doesn't</a:t>
            </a:r>
            <a:endParaRPr lang="en-US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160C310B-BD4A-FBF6-9A63-50DFFB205E75}"/>
              </a:ext>
            </a:extLst>
          </p:cNvPr>
          <p:cNvSpPr/>
          <p:nvPr/>
        </p:nvSpPr>
        <p:spPr>
          <a:xfrm>
            <a:off x="1029769" y="900685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7607B23D-AD8F-9FF4-8D95-D842E5619C13}"/>
              </a:ext>
            </a:extLst>
          </p:cNvPr>
          <p:cNvSpPr/>
          <p:nvPr/>
        </p:nvSpPr>
        <p:spPr>
          <a:xfrm>
            <a:off x="1029769" y="900685"/>
            <a:ext cx="265176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9C75BF39-B5D6-1C9D-A978-D1FF53A728F5}"/>
              </a:ext>
            </a:extLst>
          </p:cNvPr>
          <p:cNvSpPr/>
          <p:nvPr/>
        </p:nvSpPr>
        <p:spPr>
          <a:xfrm>
            <a:off x="2017321" y="1056133"/>
            <a:ext cx="658368" cy="65836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6D28D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6F3556A6-FA80-2CA2-821F-2BFC4282F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905" y="1156717"/>
            <a:ext cx="457200" cy="457200"/>
          </a:xfrm>
          <a:prstGeom prst="rect">
            <a:avLst/>
          </a:prstGeom>
        </p:spPr>
      </p:pic>
      <p:sp>
        <p:nvSpPr>
          <p:cNvPr id="18" name="Text 6">
            <a:extLst>
              <a:ext uri="{FF2B5EF4-FFF2-40B4-BE49-F238E27FC236}">
                <a16:creationId xmlns:a16="http://schemas.microsoft.com/office/drawing/2014/main" id="{8BCE8FFB-5355-5F10-AC20-7845394FDE27}"/>
              </a:ext>
            </a:extLst>
          </p:cNvPr>
          <p:cNvSpPr/>
          <p:nvPr/>
        </p:nvSpPr>
        <p:spPr>
          <a:xfrm>
            <a:off x="1139497" y="1815085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~265K+</a:t>
            </a:r>
            <a:endParaRPr lang="en-US" sz="28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486885EC-C5A2-DBCD-054D-24B55BD8C92E}"/>
              </a:ext>
            </a:extLst>
          </p:cNvPr>
          <p:cNvSpPr/>
          <p:nvPr/>
        </p:nvSpPr>
        <p:spPr>
          <a:xfrm>
            <a:off x="1139497" y="2345437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volunteers</a:t>
            </a:r>
            <a:endParaRPr lang="en-US" sz="851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615AC9B6-33D8-8766-2C4C-4A28EBF8AC1F}"/>
              </a:ext>
            </a:extLst>
          </p:cNvPr>
          <p:cNvSpPr/>
          <p:nvPr/>
        </p:nvSpPr>
        <p:spPr>
          <a:xfrm>
            <a:off x="1651561" y="2638045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everyone</a:t>
            </a:r>
            <a:endParaRPr lang="en-US" sz="12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468CC748-49DC-663A-6196-758B785B95AA}"/>
              </a:ext>
            </a:extLst>
          </p:cNvPr>
          <p:cNvSpPr>
            <a:spLocks noChangeAspect="1"/>
          </p:cNvSpPr>
          <p:nvPr/>
        </p:nvSpPr>
        <p:spPr>
          <a:xfrm>
            <a:off x="1461345" y="3018373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journalists. No editors. Just volunteers:  students, professors, enthusiasts, anyone who wants to share what they know.</a:t>
            </a:r>
            <a:endParaRPr lang="en-US" sz="951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18E7778A-B09E-3861-91F1-E9CD2F22979A}"/>
              </a:ext>
            </a:extLst>
          </p:cNvPr>
          <p:cNvSpPr/>
          <p:nvPr/>
        </p:nvSpPr>
        <p:spPr>
          <a:xfrm>
            <a:off x="4641012" y="900685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DC170E65-8AE1-F0B2-7E37-78F00BFEE67A}"/>
              </a:ext>
            </a:extLst>
          </p:cNvPr>
          <p:cNvSpPr/>
          <p:nvPr/>
        </p:nvSpPr>
        <p:spPr>
          <a:xfrm>
            <a:off x="4641012" y="900685"/>
            <a:ext cx="26517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4EA67FE0-9642-BA4B-3863-3FEFD02537AF}"/>
              </a:ext>
            </a:extLst>
          </p:cNvPr>
          <p:cNvSpPr/>
          <p:nvPr/>
        </p:nvSpPr>
        <p:spPr>
          <a:xfrm>
            <a:off x="5628564" y="1056133"/>
            <a:ext cx="658368" cy="65836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774ED325-6289-5633-4520-E42FFB168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148" y="1156717"/>
            <a:ext cx="457200" cy="457200"/>
          </a:xfrm>
          <a:prstGeom prst="rect">
            <a:avLst/>
          </a:prstGeom>
        </p:spPr>
      </p:pic>
      <p:sp>
        <p:nvSpPr>
          <p:cNvPr id="27" name="Text 15">
            <a:extLst>
              <a:ext uri="{FF2B5EF4-FFF2-40B4-BE49-F238E27FC236}">
                <a16:creationId xmlns:a16="http://schemas.microsoft.com/office/drawing/2014/main" id="{347407D0-C7F3-1BDE-EFCE-B2BA6F91AC93}"/>
              </a:ext>
            </a:extLst>
          </p:cNvPr>
          <p:cNvSpPr/>
          <p:nvPr/>
        </p:nvSpPr>
        <p:spPr>
          <a:xfrm>
            <a:off x="4750740" y="1815085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~7.9K</a:t>
            </a:r>
            <a:endParaRPr lang="en-US" sz="2800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EF85182C-1C41-8AFE-E0D2-F4A708561927}"/>
              </a:ext>
            </a:extLst>
          </p:cNvPr>
          <p:cNvSpPr/>
          <p:nvPr/>
        </p:nvSpPr>
        <p:spPr>
          <a:xfrm>
            <a:off x="4750740" y="2345437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disputed articles (EN)</a:t>
            </a:r>
            <a:endParaRPr lang="en-US" sz="851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336A79C7-1C0D-406F-BD23-CA4408C19C8F}"/>
              </a:ext>
            </a:extLst>
          </p:cNvPr>
          <p:cNvSpPr/>
          <p:nvPr/>
        </p:nvSpPr>
        <p:spPr>
          <a:xfrm>
            <a:off x="5542264" y="2638045"/>
            <a:ext cx="110747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happen</a:t>
            </a:r>
            <a:endParaRPr lang="en-US" sz="12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24400EE0-B706-7A8F-4218-554C551C9ED5}"/>
              </a:ext>
            </a:extLst>
          </p:cNvPr>
          <p:cNvSpPr>
            <a:spLocks noChangeAspect="1"/>
          </p:cNvSpPr>
          <p:nvPr/>
        </p:nvSpPr>
        <p:spPr>
          <a:xfrm>
            <a:off x="5029671" y="3020376"/>
            <a:ext cx="19713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editors disagree on facts, framing, or bias, they fight. Articles get rewritten, reverted, flagged. A dispute banner gets planted.</a:t>
            </a:r>
            <a:endParaRPr lang="en-US" sz="951" dirty="0"/>
          </a:p>
        </p:txBody>
      </p:sp>
      <p:sp>
        <p:nvSpPr>
          <p:cNvPr id="33" name="Shape 21">
            <a:extLst>
              <a:ext uri="{FF2B5EF4-FFF2-40B4-BE49-F238E27FC236}">
                <a16:creationId xmlns:a16="http://schemas.microsoft.com/office/drawing/2014/main" id="{68F17D73-ADD8-A698-AB71-F62CDA37CBDF}"/>
              </a:ext>
            </a:extLst>
          </p:cNvPr>
          <p:cNvSpPr/>
          <p:nvPr/>
        </p:nvSpPr>
        <p:spPr>
          <a:xfrm>
            <a:off x="8252255" y="900685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2">
            <a:extLst>
              <a:ext uri="{FF2B5EF4-FFF2-40B4-BE49-F238E27FC236}">
                <a16:creationId xmlns:a16="http://schemas.microsoft.com/office/drawing/2014/main" id="{3A891F57-0905-F952-B29D-902EC967522A}"/>
              </a:ext>
            </a:extLst>
          </p:cNvPr>
          <p:cNvSpPr/>
          <p:nvPr/>
        </p:nvSpPr>
        <p:spPr>
          <a:xfrm>
            <a:off x="8252255" y="900685"/>
            <a:ext cx="26517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3">
            <a:extLst>
              <a:ext uri="{FF2B5EF4-FFF2-40B4-BE49-F238E27FC236}">
                <a16:creationId xmlns:a16="http://schemas.microsoft.com/office/drawing/2014/main" id="{B8C70795-168A-0E87-D28E-8E62CA36AE49}"/>
              </a:ext>
            </a:extLst>
          </p:cNvPr>
          <p:cNvSpPr/>
          <p:nvPr/>
        </p:nvSpPr>
        <p:spPr>
          <a:xfrm>
            <a:off x="9239807" y="1056133"/>
            <a:ext cx="658368" cy="65836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1465C29F-1913-4635-F4A0-90FD578F8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391" y="1156717"/>
            <a:ext cx="457200" cy="457200"/>
          </a:xfrm>
          <a:prstGeom prst="rect">
            <a:avLst/>
          </a:prstGeom>
        </p:spPr>
      </p:pic>
      <p:sp>
        <p:nvSpPr>
          <p:cNvPr id="37" name="Text 24">
            <a:extLst>
              <a:ext uri="{FF2B5EF4-FFF2-40B4-BE49-F238E27FC236}">
                <a16:creationId xmlns:a16="http://schemas.microsoft.com/office/drawing/2014/main" id="{3148CE48-8DBF-13C4-E21B-5D2BBC51A442}"/>
              </a:ext>
            </a:extLst>
          </p:cNvPr>
          <p:cNvSpPr/>
          <p:nvPr/>
        </p:nvSpPr>
        <p:spPr>
          <a:xfrm>
            <a:off x="8361983" y="1815085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E1413C82-F28D-713D-EECF-FF5EB36EE9E0}"/>
              </a:ext>
            </a:extLst>
          </p:cNvPr>
          <p:cNvSpPr/>
          <p:nvPr/>
        </p:nvSpPr>
        <p:spPr>
          <a:xfrm>
            <a:off x="8361983" y="2345437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</a:t>
            </a:r>
            <a:endParaRPr lang="en-US" sz="851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13BD8A5A-982F-9123-121C-3DCF70E48AE6}"/>
              </a:ext>
            </a:extLst>
          </p:cNvPr>
          <p:cNvSpPr/>
          <p:nvPr/>
        </p:nvSpPr>
        <p:spPr>
          <a:xfrm>
            <a:off x="8874047" y="2638045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Nobody's watching</a:t>
            </a:r>
            <a:endParaRPr lang="en-US" sz="1200" dirty="0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176FD8A9-350C-06D9-2150-457195F1DD5E}"/>
              </a:ext>
            </a:extLst>
          </p:cNvPr>
          <p:cNvSpPr>
            <a:spLocks/>
          </p:cNvSpPr>
          <p:nvPr/>
        </p:nvSpPr>
        <p:spPr>
          <a:xfrm>
            <a:off x="8702119" y="30103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has no system that reads the text and asks: does something feel off here? Every flag is placed manually or never placed at all.</a:t>
            </a:r>
            <a:endParaRPr lang="en-US" sz="951" dirty="0"/>
          </a:p>
        </p:txBody>
      </p:sp>
    </p:spTree>
    <p:extLst>
      <p:ext uri="{BB962C8B-B14F-4D97-AF65-F5344CB8AC3E}">
        <p14:creationId xmlns:p14="http://schemas.microsoft.com/office/powerpoint/2010/main" val="2137426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4C810-D90E-8F12-6D28-375D9279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4BAD6D-758E-E444-0749-ABE13C83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2DC5-E076-7042-84F0-87DE15B3C54F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9DC945-1C26-32F2-852E-9AF416D18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 spc="20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ABBB2-0CF2-94C3-EDFD-5E0B3353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82C88-8D7F-FA4B-9D04-DF06D6EBA90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8A3A0B37-706C-81CB-477B-CE037D02B5C2}"/>
              </a:ext>
            </a:extLst>
          </p:cNvPr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D782F6D-F435-3B37-268E-1D0417E82912}"/>
              </a:ext>
            </a:extLst>
          </p:cNvPr>
          <p:cNvSpPr/>
          <p:nvPr/>
        </p:nvSpPr>
        <p:spPr>
          <a:xfrm>
            <a:off x="365760" y="640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36C33D1-A64A-8E57-B149-BFB107FCDDA6}"/>
              </a:ext>
            </a:extLst>
          </p:cNvPr>
          <p:cNvSpPr/>
          <p:nvPr/>
        </p:nvSpPr>
        <p:spPr>
          <a:xfrm>
            <a:off x="365760" y="27432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Comparing two kinds of Wikipedia Articles…</a:t>
            </a:r>
            <a:endParaRPr lang="en-US" dirty="0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59A422D-82DD-FF8E-9E04-AE0065D65EBC}"/>
              </a:ext>
            </a:extLst>
          </p:cNvPr>
          <p:cNvGrpSpPr/>
          <p:nvPr/>
        </p:nvGrpSpPr>
        <p:grpSpPr>
          <a:xfrm>
            <a:off x="987751" y="896113"/>
            <a:ext cx="4069080" cy="4041648"/>
            <a:chOff x="274320" y="896113"/>
            <a:chExt cx="4069080" cy="4041648"/>
          </a:xfrm>
        </p:grpSpPr>
        <p:sp>
          <p:nvSpPr>
            <p:cNvPr id="70" name="Shape 3">
              <a:extLst>
                <a:ext uri="{FF2B5EF4-FFF2-40B4-BE49-F238E27FC236}">
                  <a16:creationId xmlns:a16="http://schemas.microsoft.com/office/drawing/2014/main" id="{B27F6E65-B7BC-5E27-B08A-B493CDFC191E}"/>
                </a:ext>
              </a:extLst>
            </p:cNvPr>
            <p:cNvSpPr/>
            <p:nvPr/>
          </p:nvSpPr>
          <p:spPr>
            <a:xfrm>
              <a:off x="274320" y="896113"/>
              <a:ext cx="4069080" cy="4041648"/>
            </a:xfrm>
            <a:prstGeom prst="rect">
              <a:avLst/>
            </a:prstGeom>
            <a:solidFill>
              <a:srgbClr val="FEE2E2"/>
            </a:solidFill>
            <a:ln w="12700">
              <a:solidFill>
                <a:srgbClr val="DC2626">
                  <a:alpha val="45000"/>
                </a:srgbClr>
              </a:solidFill>
              <a:prstDash val="solid"/>
            </a:ln>
            <a:effectLst>
              <a:outerShdw blurRad="101600" dist="38100" dir="8100000" algn="bl" rotWithShape="0">
                <a:srgbClr val="1E293B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Shape 4">
              <a:extLst>
                <a:ext uri="{FF2B5EF4-FFF2-40B4-BE49-F238E27FC236}">
                  <a16:creationId xmlns:a16="http://schemas.microsoft.com/office/drawing/2014/main" id="{08CC0AA1-EAE8-3924-3B7D-C8240E6ADC41}"/>
                </a:ext>
              </a:extLst>
            </p:cNvPr>
            <p:cNvSpPr/>
            <p:nvPr/>
          </p:nvSpPr>
          <p:spPr>
            <a:xfrm>
              <a:off x="274320" y="896113"/>
              <a:ext cx="4069080" cy="64008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2" name="Image 0" descr="preencoded.png">
              <a:extLst>
                <a:ext uri="{FF2B5EF4-FFF2-40B4-BE49-F238E27FC236}">
                  <a16:creationId xmlns:a16="http://schemas.microsoft.com/office/drawing/2014/main" id="{139DC65F-D313-2347-B4EF-FEB996B05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360" y="1051561"/>
              <a:ext cx="502920" cy="502920"/>
            </a:xfrm>
            <a:prstGeom prst="rect">
              <a:avLst/>
            </a:prstGeom>
          </p:spPr>
        </p:pic>
        <p:sp>
          <p:nvSpPr>
            <p:cNvPr id="73" name="Text 5">
              <a:extLst>
                <a:ext uri="{FF2B5EF4-FFF2-40B4-BE49-F238E27FC236}">
                  <a16:creationId xmlns:a16="http://schemas.microsoft.com/office/drawing/2014/main" id="{7ECA0A3A-859B-74DF-10FF-3E9CAA0135EA}"/>
                </a:ext>
              </a:extLst>
            </p:cNvPr>
            <p:cNvSpPr/>
            <p:nvPr/>
          </p:nvSpPr>
          <p:spPr>
            <a:xfrm>
              <a:off x="1207008" y="1051561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 kern="0" spc="200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CONTESTED</a:t>
              </a:r>
              <a:endParaRPr lang="en-US" sz="900" dirty="0"/>
            </a:p>
          </p:txBody>
        </p:sp>
        <p:sp>
          <p:nvSpPr>
            <p:cNvPr id="74" name="Text 6">
              <a:extLst>
                <a:ext uri="{FF2B5EF4-FFF2-40B4-BE49-F238E27FC236}">
                  <a16:creationId xmlns:a16="http://schemas.microsoft.com/office/drawing/2014/main" id="{147A774D-338F-0FEE-35CE-7CC4E3C961D7}"/>
                </a:ext>
              </a:extLst>
            </p:cNvPr>
            <p:cNvSpPr/>
            <p:nvPr/>
          </p:nvSpPr>
          <p:spPr>
            <a:xfrm>
              <a:off x="1207008" y="1325881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5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Disputed articles</a:t>
              </a:r>
              <a:endParaRPr lang="en-US" sz="1500" dirty="0"/>
            </a:p>
          </p:txBody>
        </p:sp>
        <p:sp>
          <p:nvSpPr>
            <p:cNvPr id="75" name="Shape 7">
              <a:extLst>
                <a:ext uri="{FF2B5EF4-FFF2-40B4-BE49-F238E27FC236}">
                  <a16:creationId xmlns:a16="http://schemas.microsoft.com/office/drawing/2014/main" id="{60045A31-C2FE-753B-F1E9-331514E1519F}"/>
                </a:ext>
              </a:extLst>
            </p:cNvPr>
            <p:cNvSpPr/>
            <p:nvPr/>
          </p:nvSpPr>
          <p:spPr>
            <a:xfrm>
              <a:off x="457200" y="1783081"/>
              <a:ext cx="3703320" cy="475488"/>
            </a:xfrm>
            <a:prstGeom prst="rect">
              <a:avLst/>
            </a:prstGeom>
            <a:solidFill>
              <a:srgbClr val="FFF1F2"/>
            </a:solidFill>
            <a:ln w="12700">
              <a:solidFill>
                <a:srgbClr val="DC2626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 8">
              <a:extLst>
                <a:ext uri="{FF2B5EF4-FFF2-40B4-BE49-F238E27FC236}">
                  <a16:creationId xmlns:a16="http://schemas.microsoft.com/office/drawing/2014/main" id="{374798D7-5954-2B3F-D907-332C20CA95C0}"/>
                </a:ext>
              </a:extLst>
            </p:cNvPr>
            <p:cNvSpPr/>
            <p:nvPr/>
          </p:nvSpPr>
          <p:spPr>
            <a:xfrm>
              <a:off x="548640" y="1828801"/>
              <a:ext cx="3520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1" i="1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{{POV|date=January 2026|talk=Article one sided.}}</a:t>
              </a:r>
              <a:endParaRPr lang="en-US" sz="851" dirty="0"/>
            </a:p>
          </p:txBody>
        </p:sp>
        <p:sp>
          <p:nvSpPr>
            <p:cNvPr id="77" name="Text 9">
              <a:extLst>
                <a:ext uri="{FF2B5EF4-FFF2-40B4-BE49-F238E27FC236}">
                  <a16:creationId xmlns:a16="http://schemas.microsoft.com/office/drawing/2014/main" id="{96761434-E35A-F053-DDFB-967B5E09AAEF}"/>
                </a:ext>
              </a:extLst>
            </p:cNvPr>
            <p:cNvSpPr/>
            <p:nvPr/>
          </p:nvSpPr>
          <p:spPr>
            <a:xfrm>
              <a:off x="457200" y="2377441"/>
              <a:ext cx="3657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51" b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Articles carrying active dispute templates:</a:t>
              </a:r>
              <a:endParaRPr lang="en-US" sz="951" dirty="0"/>
            </a:p>
          </p:txBody>
        </p:sp>
        <p:sp>
          <p:nvSpPr>
            <p:cNvPr id="78" name="Shape 10">
              <a:extLst>
                <a:ext uri="{FF2B5EF4-FFF2-40B4-BE49-F238E27FC236}">
                  <a16:creationId xmlns:a16="http://schemas.microsoft.com/office/drawing/2014/main" id="{003052C6-9DB5-CAF7-9BA1-C6D16061171A}"/>
                </a:ext>
              </a:extLst>
            </p:cNvPr>
            <p:cNvSpPr/>
            <p:nvPr/>
          </p:nvSpPr>
          <p:spPr>
            <a:xfrm>
              <a:off x="457200" y="2697481"/>
              <a:ext cx="1170432" cy="310896"/>
            </a:xfrm>
            <a:prstGeom prst="rect">
              <a:avLst/>
            </a:prstGeom>
            <a:solidFill>
              <a:srgbClr val="FEE2E2"/>
            </a:solidFill>
            <a:ln w="12700">
              <a:solidFill>
                <a:srgbClr val="DC2626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 11">
              <a:extLst>
                <a:ext uri="{FF2B5EF4-FFF2-40B4-BE49-F238E27FC236}">
                  <a16:creationId xmlns:a16="http://schemas.microsoft.com/office/drawing/2014/main" id="{31217866-1127-B6A5-D151-60657960844C}"/>
                </a:ext>
              </a:extLst>
            </p:cNvPr>
            <p:cNvSpPr/>
            <p:nvPr/>
          </p:nvSpPr>
          <p:spPr>
            <a:xfrm>
              <a:off x="457200" y="2697481"/>
              <a:ext cx="117043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8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{{POV}}</a:t>
              </a:r>
              <a:endParaRPr lang="en-US" sz="800" dirty="0"/>
            </a:p>
          </p:txBody>
        </p:sp>
        <p:sp>
          <p:nvSpPr>
            <p:cNvPr id="80" name="Shape 12">
              <a:extLst>
                <a:ext uri="{FF2B5EF4-FFF2-40B4-BE49-F238E27FC236}">
                  <a16:creationId xmlns:a16="http://schemas.microsoft.com/office/drawing/2014/main" id="{6BF8CAED-1B1B-8E15-B633-D76FF73386CD}"/>
                </a:ext>
              </a:extLst>
            </p:cNvPr>
            <p:cNvSpPr/>
            <p:nvPr/>
          </p:nvSpPr>
          <p:spPr>
            <a:xfrm>
              <a:off x="1719072" y="2697481"/>
              <a:ext cx="1170432" cy="310896"/>
            </a:xfrm>
            <a:prstGeom prst="rect">
              <a:avLst/>
            </a:prstGeom>
            <a:solidFill>
              <a:srgbClr val="FEE2E2"/>
            </a:solidFill>
            <a:ln w="12700">
              <a:solidFill>
                <a:srgbClr val="DC2626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 13">
              <a:extLst>
                <a:ext uri="{FF2B5EF4-FFF2-40B4-BE49-F238E27FC236}">
                  <a16:creationId xmlns:a16="http://schemas.microsoft.com/office/drawing/2014/main" id="{B02BA5C2-345A-477A-4384-DC165DBA25E3}"/>
                </a:ext>
              </a:extLst>
            </p:cNvPr>
            <p:cNvSpPr/>
            <p:nvPr/>
          </p:nvSpPr>
          <p:spPr>
            <a:xfrm>
              <a:off x="1719072" y="2697481"/>
              <a:ext cx="117043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8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{{Disputed}}</a:t>
              </a:r>
              <a:endParaRPr lang="en-US" sz="800" dirty="0"/>
            </a:p>
          </p:txBody>
        </p:sp>
        <p:sp>
          <p:nvSpPr>
            <p:cNvPr id="82" name="Shape 14">
              <a:extLst>
                <a:ext uri="{FF2B5EF4-FFF2-40B4-BE49-F238E27FC236}">
                  <a16:creationId xmlns:a16="http://schemas.microsoft.com/office/drawing/2014/main" id="{749FF254-639F-B085-19BC-5AEF171BA58B}"/>
                </a:ext>
              </a:extLst>
            </p:cNvPr>
            <p:cNvSpPr/>
            <p:nvPr/>
          </p:nvSpPr>
          <p:spPr>
            <a:xfrm>
              <a:off x="2980944" y="2697481"/>
              <a:ext cx="1170432" cy="310896"/>
            </a:xfrm>
            <a:prstGeom prst="rect">
              <a:avLst/>
            </a:prstGeom>
            <a:solidFill>
              <a:srgbClr val="FEE2E2"/>
            </a:solidFill>
            <a:ln w="12700">
              <a:solidFill>
                <a:srgbClr val="DC2626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 15">
              <a:extLst>
                <a:ext uri="{FF2B5EF4-FFF2-40B4-BE49-F238E27FC236}">
                  <a16:creationId xmlns:a16="http://schemas.microsoft.com/office/drawing/2014/main" id="{20385CDE-8F26-83D4-BA87-984BF38DF41B}"/>
                </a:ext>
              </a:extLst>
            </p:cNvPr>
            <p:cNvSpPr/>
            <p:nvPr/>
          </p:nvSpPr>
          <p:spPr>
            <a:xfrm>
              <a:off x="2980944" y="2697481"/>
              <a:ext cx="117043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8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{{Neutrality}}</a:t>
              </a:r>
              <a:endParaRPr lang="en-US" sz="800" dirty="0"/>
            </a:p>
          </p:txBody>
        </p:sp>
        <p:sp>
          <p:nvSpPr>
            <p:cNvPr id="84" name="Shape 16">
              <a:extLst>
                <a:ext uri="{FF2B5EF4-FFF2-40B4-BE49-F238E27FC236}">
                  <a16:creationId xmlns:a16="http://schemas.microsoft.com/office/drawing/2014/main" id="{DD7B9D3E-36F0-E0A2-470A-C61F8B80BCA7}"/>
                </a:ext>
              </a:extLst>
            </p:cNvPr>
            <p:cNvSpPr/>
            <p:nvPr/>
          </p:nvSpPr>
          <p:spPr>
            <a:xfrm>
              <a:off x="457200" y="3081529"/>
              <a:ext cx="1170432" cy="310896"/>
            </a:xfrm>
            <a:prstGeom prst="rect">
              <a:avLst/>
            </a:prstGeom>
            <a:solidFill>
              <a:srgbClr val="FEE2E2"/>
            </a:solidFill>
            <a:ln w="12700">
              <a:solidFill>
                <a:srgbClr val="DC2626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 17">
              <a:extLst>
                <a:ext uri="{FF2B5EF4-FFF2-40B4-BE49-F238E27FC236}">
                  <a16:creationId xmlns:a16="http://schemas.microsoft.com/office/drawing/2014/main" id="{A9AAAEF2-2F5D-0BB4-125C-AE86A269B520}"/>
                </a:ext>
              </a:extLst>
            </p:cNvPr>
            <p:cNvSpPr/>
            <p:nvPr/>
          </p:nvSpPr>
          <p:spPr>
            <a:xfrm>
              <a:off x="457200" y="3081529"/>
              <a:ext cx="117043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8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{{Biased}}</a:t>
              </a:r>
              <a:endParaRPr lang="en-US" sz="800" dirty="0"/>
            </a:p>
          </p:txBody>
        </p:sp>
        <p:sp>
          <p:nvSpPr>
            <p:cNvPr id="86" name="Shape 18">
              <a:extLst>
                <a:ext uri="{FF2B5EF4-FFF2-40B4-BE49-F238E27FC236}">
                  <a16:creationId xmlns:a16="http://schemas.microsoft.com/office/drawing/2014/main" id="{EF470F4B-7241-70BB-3D20-2EB6C0BC064F}"/>
                </a:ext>
              </a:extLst>
            </p:cNvPr>
            <p:cNvSpPr/>
            <p:nvPr/>
          </p:nvSpPr>
          <p:spPr>
            <a:xfrm>
              <a:off x="1719072" y="3081529"/>
              <a:ext cx="1170432" cy="310896"/>
            </a:xfrm>
            <a:prstGeom prst="rect">
              <a:avLst/>
            </a:prstGeom>
            <a:solidFill>
              <a:srgbClr val="FEE2E2"/>
            </a:solidFill>
            <a:ln w="12700">
              <a:solidFill>
                <a:srgbClr val="DC2626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19">
              <a:extLst>
                <a:ext uri="{FF2B5EF4-FFF2-40B4-BE49-F238E27FC236}">
                  <a16:creationId xmlns:a16="http://schemas.microsoft.com/office/drawing/2014/main" id="{C9D678CB-B818-0442-4331-C8E2DA995D69}"/>
                </a:ext>
              </a:extLst>
            </p:cNvPr>
            <p:cNvSpPr/>
            <p:nvPr/>
          </p:nvSpPr>
          <p:spPr>
            <a:xfrm>
              <a:off x="1719072" y="3081529"/>
              <a:ext cx="117043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800" dirty="0">
                  <a:solidFill>
                    <a:srgbClr val="DC26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{{Unbalanced}}</a:t>
              </a:r>
              <a:endParaRPr lang="en-US" sz="800" dirty="0"/>
            </a:p>
          </p:txBody>
        </p:sp>
        <p:sp>
          <p:nvSpPr>
            <p:cNvPr id="88" name="Text 20">
              <a:extLst>
                <a:ext uri="{FF2B5EF4-FFF2-40B4-BE49-F238E27FC236}">
                  <a16:creationId xmlns:a16="http://schemas.microsoft.com/office/drawing/2014/main" id="{61BD6157-749B-632E-6017-D4C9334C0DF8}"/>
                </a:ext>
              </a:extLst>
            </p:cNvPr>
            <p:cNvSpPr/>
            <p:nvPr/>
          </p:nvSpPr>
          <p:spPr>
            <a:xfrm>
              <a:off x="457200" y="3547873"/>
              <a:ext cx="3657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i="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Added 2024–2026  ·  Currently active  ·  EN + DE</a:t>
              </a:r>
              <a:endParaRPr lang="en-US" sz="900" dirty="0"/>
            </a:p>
          </p:txBody>
        </p:sp>
        <p:sp>
          <p:nvSpPr>
            <p:cNvPr id="89" name="Text 21">
              <a:extLst>
                <a:ext uri="{FF2B5EF4-FFF2-40B4-BE49-F238E27FC236}">
                  <a16:creationId xmlns:a16="http://schemas.microsoft.com/office/drawing/2014/main" id="{C6A9F7B2-9036-3933-ADB8-A899A1E5ADC6}"/>
                </a:ext>
              </a:extLst>
            </p:cNvPr>
            <p:cNvSpPr/>
            <p:nvPr/>
          </p:nvSpPr>
          <p:spPr>
            <a:xfrm>
              <a:off x="457200" y="4251961"/>
              <a:ext cx="36576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200" b="1" dirty="0">
                  <a:solidFill>
                    <a:srgbClr val="DC2626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200 articles per language</a:t>
              </a:r>
              <a:endParaRPr lang="en-US" sz="2200" dirty="0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EA55A6D-B60D-F0D8-FDA8-3C3E69407E54}"/>
              </a:ext>
            </a:extLst>
          </p:cNvPr>
          <p:cNvGrpSpPr/>
          <p:nvPr/>
        </p:nvGrpSpPr>
        <p:grpSpPr>
          <a:xfrm>
            <a:off x="5393638" y="2116888"/>
            <a:ext cx="685800" cy="685800"/>
            <a:chOff x="4224528" y="2103121"/>
            <a:chExt cx="685800" cy="685800"/>
          </a:xfrm>
        </p:grpSpPr>
        <p:sp>
          <p:nvSpPr>
            <p:cNvPr id="90" name="Shape 22">
              <a:extLst>
                <a:ext uri="{FF2B5EF4-FFF2-40B4-BE49-F238E27FC236}">
                  <a16:creationId xmlns:a16="http://schemas.microsoft.com/office/drawing/2014/main" id="{24F509A0-E919-C544-A9F2-B1E8BFBCFBBF}"/>
                </a:ext>
              </a:extLst>
            </p:cNvPr>
            <p:cNvSpPr/>
            <p:nvPr/>
          </p:nvSpPr>
          <p:spPr>
            <a:xfrm>
              <a:off x="4224528" y="2103121"/>
              <a:ext cx="685800" cy="685800"/>
            </a:xfrm>
            <a:prstGeom prst="ellipse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 23">
              <a:extLst>
                <a:ext uri="{FF2B5EF4-FFF2-40B4-BE49-F238E27FC236}">
                  <a16:creationId xmlns:a16="http://schemas.microsoft.com/office/drawing/2014/main" id="{D16BF163-6743-5CE3-F1BC-6CFC0F8693D3}"/>
                </a:ext>
              </a:extLst>
            </p:cNvPr>
            <p:cNvSpPr/>
            <p:nvPr/>
          </p:nvSpPr>
          <p:spPr>
            <a:xfrm>
              <a:off x="4224528" y="2103121"/>
              <a:ext cx="685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VS</a:t>
              </a:r>
              <a:endParaRPr lang="en-US" sz="1100" dirty="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FD98618-506A-A4F9-1C93-46A906B8166F}"/>
              </a:ext>
            </a:extLst>
          </p:cNvPr>
          <p:cNvGrpSpPr/>
          <p:nvPr/>
        </p:nvGrpSpPr>
        <p:grpSpPr>
          <a:xfrm>
            <a:off x="6416244" y="896113"/>
            <a:ext cx="4069080" cy="4041648"/>
            <a:chOff x="4800600" y="896113"/>
            <a:chExt cx="4069080" cy="4041648"/>
          </a:xfrm>
        </p:grpSpPr>
        <p:sp>
          <p:nvSpPr>
            <p:cNvPr id="92" name="Shape 24">
              <a:extLst>
                <a:ext uri="{FF2B5EF4-FFF2-40B4-BE49-F238E27FC236}">
                  <a16:creationId xmlns:a16="http://schemas.microsoft.com/office/drawing/2014/main" id="{2147C363-B875-F620-FF94-48CCA3BDCC1A}"/>
                </a:ext>
              </a:extLst>
            </p:cNvPr>
            <p:cNvSpPr/>
            <p:nvPr/>
          </p:nvSpPr>
          <p:spPr>
            <a:xfrm>
              <a:off x="4800600" y="896113"/>
              <a:ext cx="4069080" cy="4041648"/>
            </a:xfrm>
            <a:prstGeom prst="rect">
              <a:avLst/>
            </a:prstGeom>
            <a:solidFill>
              <a:srgbClr val="D1FAE5"/>
            </a:solidFill>
            <a:ln w="12700">
              <a:solidFill>
                <a:srgbClr val="059669">
                  <a:alpha val="45000"/>
                </a:srgbClr>
              </a:solidFill>
              <a:prstDash val="solid"/>
            </a:ln>
            <a:effectLst>
              <a:outerShdw blurRad="101600" dist="38100" dir="8100000" algn="bl" rotWithShape="0">
                <a:srgbClr val="1E293B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Shape 25">
              <a:extLst>
                <a:ext uri="{FF2B5EF4-FFF2-40B4-BE49-F238E27FC236}">
                  <a16:creationId xmlns:a16="http://schemas.microsoft.com/office/drawing/2014/main" id="{B32E3855-C863-CF1D-DDD1-FAC4CCDCBD47}"/>
                </a:ext>
              </a:extLst>
            </p:cNvPr>
            <p:cNvSpPr/>
            <p:nvPr/>
          </p:nvSpPr>
          <p:spPr>
            <a:xfrm>
              <a:off x="4800600" y="896113"/>
              <a:ext cx="4069080" cy="64008"/>
            </a:xfrm>
            <a:prstGeom prst="rect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4" name="Image 1" descr="preencoded.png">
              <a:extLst>
                <a:ext uri="{FF2B5EF4-FFF2-40B4-BE49-F238E27FC236}">
                  <a16:creationId xmlns:a16="http://schemas.microsoft.com/office/drawing/2014/main" id="{1B52604A-BE22-EE01-8FD6-A6D0A26AC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20640" y="1051561"/>
              <a:ext cx="502920" cy="502920"/>
            </a:xfrm>
            <a:prstGeom prst="rect">
              <a:avLst/>
            </a:prstGeom>
          </p:spPr>
        </p:pic>
        <p:sp>
          <p:nvSpPr>
            <p:cNvPr id="95" name="Text 26">
              <a:extLst>
                <a:ext uri="{FF2B5EF4-FFF2-40B4-BE49-F238E27FC236}">
                  <a16:creationId xmlns:a16="http://schemas.microsoft.com/office/drawing/2014/main" id="{E7B2469B-9733-FAC6-2F67-C9C0091BDBB6}"/>
                </a:ext>
              </a:extLst>
            </p:cNvPr>
            <p:cNvSpPr/>
            <p:nvPr/>
          </p:nvSpPr>
          <p:spPr>
            <a:xfrm>
              <a:off x="5733288" y="1051561"/>
              <a:ext cx="2926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 kern="0" spc="200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STABLE</a:t>
              </a:r>
              <a:endParaRPr lang="en-US" sz="900" dirty="0"/>
            </a:p>
          </p:txBody>
        </p:sp>
        <p:sp>
          <p:nvSpPr>
            <p:cNvPr id="96" name="Text 27">
              <a:extLst>
                <a:ext uri="{FF2B5EF4-FFF2-40B4-BE49-F238E27FC236}">
                  <a16:creationId xmlns:a16="http://schemas.microsoft.com/office/drawing/2014/main" id="{8B28FE72-2864-8B84-63AB-2FB153090909}"/>
                </a:ext>
              </a:extLst>
            </p:cNvPr>
            <p:cNvSpPr/>
            <p:nvPr/>
          </p:nvSpPr>
          <p:spPr>
            <a:xfrm>
              <a:off x="5733288" y="1325881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5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Featured articles</a:t>
              </a:r>
              <a:endParaRPr lang="en-US" sz="1500" dirty="0"/>
            </a:p>
          </p:txBody>
        </p:sp>
        <p:sp>
          <p:nvSpPr>
            <p:cNvPr id="97" name="Shape 28">
              <a:extLst>
                <a:ext uri="{FF2B5EF4-FFF2-40B4-BE49-F238E27FC236}">
                  <a16:creationId xmlns:a16="http://schemas.microsoft.com/office/drawing/2014/main" id="{6B81CDA9-C9E8-FCC0-BA9F-C6008C3D7445}"/>
                </a:ext>
              </a:extLst>
            </p:cNvPr>
            <p:cNvSpPr/>
            <p:nvPr/>
          </p:nvSpPr>
          <p:spPr>
            <a:xfrm>
              <a:off x="4983480" y="1783081"/>
              <a:ext cx="3703320" cy="475488"/>
            </a:xfrm>
            <a:prstGeom prst="rect">
              <a:avLst/>
            </a:prstGeom>
            <a:solidFill>
              <a:srgbClr val="F0FDF4"/>
            </a:solidFill>
            <a:ln w="12700">
              <a:solidFill>
                <a:srgbClr val="05966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 29">
              <a:extLst>
                <a:ext uri="{FF2B5EF4-FFF2-40B4-BE49-F238E27FC236}">
                  <a16:creationId xmlns:a16="http://schemas.microsoft.com/office/drawing/2014/main" id="{11C13F3F-3924-E7B2-969C-494BCF7B8A9E}"/>
                </a:ext>
              </a:extLst>
            </p:cNvPr>
            <p:cNvSpPr/>
            <p:nvPr/>
          </p:nvSpPr>
          <p:spPr>
            <a:xfrm>
              <a:off x="5074920" y="1828801"/>
              <a:ext cx="3520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 dirty="0">
                  <a:solidFill>
                    <a:srgbClr val="0596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★  Wikipedia Featured Article  —  community approved</a:t>
              </a:r>
              <a:endParaRPr lang="en-US" sz="900" dirty="0"/>
            </a:p>
          </p:txBody>
        </p:sp>
        <p:sp>
          <p:nvSpPr>
            <p:cNvPr id="99" name="Text 30">
              <a:extLst>
                <a:ext uri="{FF2B5EF4-FFF2-40B4-BE49-F238E27FC236}">
                  <a16:creationId xmlns:a16="http://schemas.microsoft.com/office/drawing/2014/main" id="{965E530A-2491-56C7-0B8F-ABBC960EC64F}"/>
                </a:ext>
              </a:extLst>
            </p:cNvPr>
            <p:cNvSpPr/>
            <p:nvPr/>
          </p:nvSpPr>
          <p:spPr>
            <a:xfrm>
              <a:off x="4983480" y="2377441"/>
              <a:ext cx="3657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51" b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Featured Articles represent:</a:t>
              </a:r>
              <a:endParaRPr lang="en-US" sz="951" dirty="0"/>
            </a:p>
          </p:txBody>
        </p:sp>
        <p:sp>
          <p:nvSpPr>
            <p:cNvPr id="100" name="Shape 31">
              <a:extLst>
                <a:ext uri="{FF2B5EF4-FFF2-40B4-BE49-F238E27FC236}">
                  <a16:creationId xmlns:a16="http://schemas.microsoft.com/office/drawing/2014/main" id="{F4861102-5AA7-4BB1-A85D-956444AC21B2}"/>
                </a:ext>
              </a:extLst>
            </p:cNvPr>
            <p:cNvSpPr/>
            <p:nvPr/>
          </p:nvSpPr>
          <p:spPr>
            <a:xfrm>
              <a:off x="4983480" y="2706625"/>
              <a:ext cx="146304" cy="146304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Text 32">
              <a:extLst>
                <a:ext uri="{FF2B5EF4-FFF2-40B4-BE49-F238E27FC236}">
                  <a16:creationId xmlns:a16="http://schemas.microsoft.com/office/drawing/2014/main" id="{49D744B4-EE3E-362F-D8B1-858B1405EF56}"/>
                </a:ext>
              </a:extLst>
            </p:cNvPr>
            <p:cNvSpPr/>
            <p:nvPr/>
          </p:nvSpPr>
          <p:spPr>
            <a:xfrm>
              <a:off x="5212080" y="2670049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Reviewed by the community</a:t>
              </a:r>
              <a:endParaRPr lang="en-US" sz="1000" dirty="0"/>
            </a:p>
          </p:txBody>
        </p:sp>
        <p:sp>
          <p:nvSpPr>
            <p:cNvPr id="102" name="Shape 33">
              <a:extLst>
                <a:ext uri="{FF2B5EF4-FFF2-40B4-BE49-F238E27FC236}">
                  <a16:creationId xmlns:a16="http://schemas.microsoft.com/office/drawing/2014/main" id="{77C49F3B-9BE4-1550-C162-A150EEE7DF4F}"/>
                </a:ext>
              </a:extLst>
            </p:cNvPr>
            <p:cNvSpPr/>
            <p:nvPr/>
          </p:nvSpPr>
          <p:spPr>
            <a:xfrm>
              <a:off x="4983480" y="3090673"/>
              <a:ext cx="146304" cy="146304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Text 34">
              <a:extLst>
                <a:ext uri="{FF2B5EF4-FFF2-40B4-BE49-F238E27FC236}">
                  <a16:creationId xmlns:a16="http://schemas.microsoft.com/office/drawing/2014/main" id="{FFD8CD85-3C9E-D5F2-0923-F728542F1544}"/>
                </a:ext>
              </a:extLst>
            </p:cNvPr>
            <p:cNvSpPr/>
            <p:nvPr/>
          </p:nvSpPr>
          <p:spPr>
            <a:xfrm>
              <a:off x="5212080" y="3054097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Well-sourced and neutral</a:t>
              </a:r>
              <a:endParaRPr lang="en-US" sz="1000" dirty="0"/>
            </a:p>
          </p:txBody>
        </p:sp>
        <p:sp>
          <p:nvSpPr>
            <p:cNvPr id="104" name="Shape 35">
              <a:extLst>
                <a:ext uri="{FF2B5EF4-FFF2-40B4-BE49-F238E27FC236}">
                  <a16:creationId xmlns:a16="http://schemas.microsoft.com/office/drawing/2014/main" id="{9A8625E0-60B1-1FA6-8BE3-0099B1C92D06}"/>
                </a:ext>
              </a:extLst>
            </p:cNvPr>
            <p:cNvSpPr/>
            <p:nvPr/>
          </p:nvSpPr>
          <p:spPr>
            <a:xfrm>
              <a:off x="4983480" y="3474721"/>
              <a:ext cx="146304" cy="146304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Text 36">
              <a:extLst>
                <a:ext uri="{FF2B5EF4-FFF2-40B4-BE49-F238E27FC236}">
                  <a16:creationId xmlns:a16="http://schemas.microsoft.com/office/drawing/2014/main" id="{2D1AAEA2-5E61-CAA3-89F1-2E7072AF9814}"/>
                </a:ext>
              </a:extLst>
            </p:cNvPr>
            <p:cNvSpPr/>
            <p:nvPr/>
          </p:nvSpPr>
          <p:spPr>
            <a:xfrm>
              <a:off x="5212080" y="3438145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active disputes</a:t>
              </a:r>
              <a:endParaRPr lang="en-US" sz="1000" dirty="0"/>
            </a:p>
          </p:txBody>
        </p:sp>
        <p:sp>
          <p:nvSpPr>
            <p:cNvPr id="106" name="Shape 37">
              <a:extLst>
                <a:ext uri="{FF2B5EF4-FFF2-40B4-BE49-F238E27FC236}">
                  <a16:creationId xmlns:a16="http://schemas.microsoft.com/office/drawing/2014/main" id="{6F0D705A-3F2F-1CC5-1347-BDCE47906B08}"/>
                </a:ext>
              </a:extLst>
            </p:cNvPr>
            <p:cNvSpPr/>
            <p:nvPr/>
          </p:nvSpPr>
          <p:spPr>
            <a:xfrm>
              <a:off x="4983480" y="3858769"/>
              <a:ext cx="146304" cy="146304"/>
            </a:xfrm>
            <a:prstGeom prst="ellipse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Text 38">
              <a:extLst>
                <a:ext uri="{FF2B5EF4-FFF2-40B4-BE49-F238E27FC236}">
                  <a16:creationId xmlns:a16="http://schemas.microsoft.com/office/drawing/2014/main" id="{B302EB7C-E1B5-5EF1-CC26-D23FFAE2C10F}"/>
                </a:ext>
              </a:extLst>
            </p:cNvPr>
            <p:cNvSpPr/>
            <p:nvPr/>
          </p:nvSpPr>
          <p:spPr>
            <a:xfrm>
              <a:off x="5212080" y="3822193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Only 0.1% of all articles qualify</a:t>
              </a:r>
              <a:endParaRPr lang="en-US" sz="1000" dirty="0"/>
            </a:p>
          </p:txBody>
        </p:sp>
        <p:sp>
          <p:nvSpPr>
            <p:cNvPr id="108" name="Text 40">
              <a:extLst>
                <a:ext uri="{FF2B5EF4-FFF2-40B4-BE49-F238E27FC236}">
                  <a16:creationId xmlns:a16="http://schemas.microsoft.com/office/drawing/2014/main" id="{8F8B9B19-BF35-12CC-D022-ED7A6A394D09}"/>
                </a:ext>
              </a:extLst>
            </p:cNvPr>
            <p:cNvSpPr/>
            <p:nvPr/>
          </p:nvSpPr>
          <p:spPr>
            <a:xfrm>
              <a:off x="4983480" y="4251961"/>
              <a:ext cx="36576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2200" b="1" dirty="0">
                  <a:solidFill>
                    <a:srgbClr val="059669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200 articles per language</a:t>
              </a:r>
              <a:endParaRPr lang="en-US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883837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B5270-6955-4AFB-0EFC-2D511B520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3DEAA8-93AA-6026-C540-052C7AD7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2DC5-E076-7042-84F0-87DE15B3C54F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EE92BA-E1D7-9B51-5D16-0154BFFD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 spc="20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10267-0749-95A7-D9F8-55BBC1F9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82C88-8D7F-FA4B-9D04-DF06D6EBA90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85060022-196C-30CE-BC6E-227C198FE182}"/>
              </a:ext>
            </a:extLst>
          </p:cNvPr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848F29D-286A-CD16-D338-DA52A3F79026}"/>
              </a:ext>
            </a:extLst>
          </p:cNvPr>
          <p:cNvSpPr/>
          <p:nvPr/>
        </p:nvSpPr>
        <p:spPr>
          <a:xfrm>
            <a:off x="365760" y="640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Data Collection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1797518-7BF3-5CAB-E445-A9B1CE96E669}"/>
              </a:ext>
            </a:extLst>
          </p:cNvPr>
          <p:cNvSpPr/>
          <p:nvPr/>
        </p:nvSpPr>
        <p:spPr>
          <a:xfrm>
            <a:off x="365760" y="27432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platforms  ·  Two languages  ·  800 articles  ·  collected from scratch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800172D-8E9F-96F3-370F-6B0340E04118}"/>
              </a:ext>
            </a:extLst>
          </p:cNvPr>
          <p:cNvGrpSpPr/>
          <p:nvPr/>
        </p:nvGrpSpPr>
        <p:grpSpPr>
          <a:xfrm>
            <a:off x="705910" y="1414809"/>
            <a:ext cx="10780180" cy="4028383"/>
            <a:chOff x="228600" y="1005841"/>
            <a:chExt cx="8686800" cy="3246120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2E05D17B-AE08-D8D0-5CDF-99794459C7E7}"/>
                </a:ext>
              </a:extLst>
            </p:cNvPr>
            <p:cNvSpPr/>
            <p:nvPr/>
          </p:nvSpPr>
          <p:spPr>
            <a:xfrm>
              <a:off x="3474720" y="1280161"/>
              <a:ext cx="2194560" cy="256032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  <a:effectLst>
              <a:outerShdw blurRad="101600" dist="38100" dir="8100000" algn="bl" rotWithShape="0">
                <a:srgbClr val="1E293B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4E070D34-6A60-D9DA-D846-C1468CF42207}"/>
                </a:ext>
              </a:extLst>
            </p:cNvPr>
            <p:cNvSpPr/>
            <p:nvPr/>
          </p:nvSpPr>
          <p:spPr>
            <a:xfrm>
              <a:off x="3474720" y="1554481"/>
              <a:ext cx="21945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3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WIKIPEDIA</a:t>
              </a:r>
              <a:endParaRPr lang="en-US" sz="1300" dirty="0"/>
            </a:p>
            <a:p>
              <a:pPr algn="ctr"/>
              <a:r>
                <a:rPr lang="en-US" sz="13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ARTICLE</a:t>
              </a:r>
              <a:endParaRPr lang="en-US" sz="1300" dirty="0"/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ADE223F6-BCC8-65B4-6DB0-81A725D57E6E}"/>
                </a:ext>
              </a:extLst>
            </p:cNvPr>
            <p:cNvSpPr/>
            <p:nvPr/>
          </p:nvSpPr>
          <p:spPr>
            <a:xfrm>
              <a:off x="3474720" y="2331721"/>
              <a:ext cx="21945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dirty="0">
                  <a:solidFill>
                    <a:srgbClr val="818CF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  +  DE</a:t>
              </a:r>
              <a:endParaRPr lang="en-US" sz="1000" dirty="0"/>
            </a:p>
          </p:txBody>
        </p:sp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1001D8D8-341A-92AE-3025-2B3A5C7A19B2}"/>
                </a:ext>
              </a:extLst>
            </p:cNvPr>
            <p:cNvSpPr/>
            <p:nvPr/>
          </p:nvSpPr>
          <p:spPr>
            <a:xfrm>
              <a:off x="3474720" y="2697481"/>
              <a:ext cx="219456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dirty="0">
                  <a:solidFill>
                    <a:srgbClr val="7C3AED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800</a:t>
              </a:r>
              <a:endParaRPr lang="en-US" sz="1600" dirty="0"/>
            </a:p>
            <a:p>
              <a:pPr algn="ctr"/>
              <a:r>
                <a:rPr lang="en-US" sz="1600" b="1" dirty="0">
                  <a:solidFill>
                    <a:srgbClr val="7C3AED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articles</a:t>
              </a:r>
              <a:endParaRPr lang="en-US" sz="1600" dirty="0"/>
            </a:p>
          </p:txBody>
        </p:sp>
        <p:sp>
          <p:nvSpPr>
            <p:cNvPr id="13" name="Shape 7">
              <a:extLst>
                <a:ext uri="{FF2B5EF4-FFF2-40B4-BE49-F238E27FC236}">
                  <a16:creationId xmlns:a16="http://schemas.microsoft.com/office/drawing/2014/main" id="{6C400279-C721-AC10-8A7E-EDFEFCE0A5DA}"/>
                </a:ext>
              </a:extLst>
            </p:cNvPr>
            <p:cNvSpPr/>
            <p:nvPr/>
          </p:nvSpPr>
          <p:spPr>
            <a:xfrm>
              <a:off x="228600" y="1005841"/>
              <a:ext cx="2926080" cy="3246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6D28D9">
                  <a:alpha val="45000"/>
                </a:srgbClr>
              </a:solidFill>
              <a:prstDash val="solid"/>
            </a:ln>
            <a:effectLst>
              <a:outerShdw blurRad="101600" dist="38100" dir="8100000" algn="bl" rotWithShape="0">
                <a:srgbClr val="1E293B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80C973B2-9371-4BDF-C3DA-112B41EF3A10}"/>
                </a:ext>
              </a:extLst>
            </p:cNvPr>
            <p:cNvSpPr/>
            <p:nvPr/>
          </p:nvSpPr>
          <p:spPr>
            <a:xfrm>
              <a:off x="228600" y="1005841"/>
              <a:ext cx="2926080" cy="64008"/>
            </a:xfrm>
            <a:prstGeom prst="rect">
              <a:avLst/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0" descr="preencoded.png">
              <a:extLst>
                <a:ext uri="{FF2B5EF4-FFF2-40B4-BE49-F238E27FC236}">
                  <a16:creationId xmlns:a16="http://schemas.microsoft.com/office/drawing/2014/main" id="{E8A1D415-A851-A39B-DAEF-2F42ABF6EA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115569"/>
              <a:ext cx="384048" cy="384048"/>
            </a:xfrm>
            <a:prstGeom prst="rect">
              <a:avLst/>
            </a:prstGeom>
          </p:spPr>
        </p:pic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D24887E5-55BF-B1AA-EDBF-BACEB5C9E73D}"/>
                </a:ext>
              </a:extLst>
            </p:cNvPr>
            <p:cNvSpPr/>
            <p:nvPr/>
          </p:nvSpPr>
          <p:spPr>
            <a:xfrm>
              <a:off x="960120" y="1097281"/>
              <a:ext cx="20116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00" b="1" kern="0" spc="200" dirty="0">
                  <a:solidFill>
                    <a:srgbClr val="6D28D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Platform 1</a:t>
              </a:r>
              <a:endParaRPr lang="en-US" sz="800" dirty="0"/>
            </a:p>
          </p:txBody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F83C891F-FF5E-C9C7-B242-63C03B611099}"/>
                </a:ext>
              </a:extLst>
            </p:cNvPr>
            <p:cNvSpPr/>
            <p:nvPr/>
          </p:nvSpPr>
          <p:spPr>
            <a:xfrm>
              <a:off x="960120" y="1316737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Main Articles</a:t>
              </a:r>
              <a:endParaRPr lang="en-US" sz="1300" dirty="0"/>
            </a:p>
          </p:txBody>
        </p:sp>
        <p:sp>
          <p:nvSpPr>
            <p:cNvPr id="18" name="Shape 11">
              <a:extLst>
                <a:ext uri="{FF2B5EF4-FFF2-40B4-BE49-F238E27FC236}">
                  <a16:creationId xmlns:a16="http://schemas.microsoft.com/office/drawing/2014/main" id="{DF2D9B93-893E-15FD-56FB-FB919EC1E8EC}"/>
                </a:ext>
              </a:extLst>
            </p:cNvPr>
            <p:cNvSpPr/>
            <p:nvPr/>
          </p:nvSpPr>
          <p:spPr>
            <a:xfrm>
              <a:off x="320040" y="1719073"/>
              <a:ext cx="2743200" cy="310896"/>
            </a:xfrm>
            <a:prstGeom prst="rect">
              <a:avLst/>
            </a:prstGeom>
            <a:solidFill>
              <a:srgbClr val="F8F9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2912FC31-422C-0F7A-385C-0CCE63DD751E}"/>
                </a:ext>
              </a:extLst>
            </p:cNvPr>
            <p:cNvSpPr/>
            <p:nvPr/>
          </p:nvSpPr>
          <p:spPr>
            <a:xfrm>
              <a:off x="411480" y="1737361"/>
              <a:ext cx="1417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1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 article text</a:t>
              </a:r>
              <a:endParaRPr lang="en-US" sz="851" dirty="0"/>
            </a:p>
          </p:txBody>
        </p:sp>
        <p:sp>
          <p:nvSpPr>
            <p:cNvPr id="20" name="Text 13">
              <a:extLst>
                <a:ext uri="{FF2B5EF4-FFF2-40B4-BE49-F238E27FC236}">
                  <a16:creationId xmlns:a16="http://schemas.microsoft.com/office/drawing/2014/main" id="{BBCDBD91-4E09-94D9-BAB2-C8AC20F3F9C2}"/>
                </a:ext>
              </a:extLst>
            </p:cNvPr>
            <p:cNvSpPr/>
            <p:nvPr/>
          </p:nvSpPr>
          <p:spPr>
            <a:xfrm>
              <a:off x="1847088" y="1737361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5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 NLP features</a:t>
              </a:r>
              <a:endParaRPr lang="en-US" sz="751" dirty="0"/>
            </a:p>
          </p:txBody>
        </p:sp>
        <p:sp>
          <p:nvSpPr>
            <p:cNvPr id="21" name="Shape 14">
              <a:extLst>
                <a:ext uri="{FF2B5EF4-FFF2-40B4-BE49-F238E27FC236}">
                  <a16:creationId xmlns:a16="http://schemas.microsoft.com/office/drawing/2014/main" id="{CCC1CF3F-A80A-161B-BE23-D994900B8D7F}"/>
                </a:ext>
              </a:extLst>
            </p:cNvPr>
            <p:cNvSpPr/>
            <p:nvPr/>
          </p:nvSpPr>
          <p:spPr>
            <a:xfrm>
              <a:off x="320040" y="2066545"/>
              <a:ext cx="2743200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C8B4E993-6F68-CC0A-4758-E9C05BE780E5}"/>
                </a:ext>
              </a:extLst>
            </p:cNvPr>
            <p:cNvSpPr/>
            <p:nvPr/>
          </p:nvSpPr>
          <p:spPr>
            <a:xfrm>
              <a:off x="411480" y="2084833"/>
              <a:ext cx="1417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1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Citation count</a:t>
              </a:r>
              <a:endParaRPr lang="en-US" sz="851" dirty="0"/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219D2164-BEBE-809C-53A9-5C7969290F8D}"/>
                </a:ext>
              </a:extLst>
            </p:cNvPr>
            <p:cNvSpPr/>
            <p:nvPr/>
          </p:nvSpPr>
          <p:spPr>
            <a:xfrm>
              <a:off x="1847088" y="2084833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5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number of &lt;ref&gt; tags</a:t>
              </a:r>
              <a:endParaRPr lang="en-US" sz="751" dirty="0"/>
            </a:p>
          </p:txBody>
        </p:sp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6BF39743-5597-5674-85FB-01C97BCB5253}"/>
                </a:ext>
              </a:extLst>
            </p:cNvPr>
            <p:cNvSpPr/>
            <p:nvPr/>
          </p:nvSpPr>
          <p:spPr>
            <a:xfrm>
              <a:off x="320040" y="2414017"/>
              <a:ext cx="2743200" cy="310896"/>
            </a:xfrm>
            <a:prstGeom prst="rect">
              <a:avLst/>
            </a:prstGeom>
            <a:solidFill>
              <a:srgbClr val="F8F9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DA3FD0D4-8878-3EAF-4086-4499DDF4AD7E}"/>
                </a:ext>
              </a:extLst>
            </p:cNvPr>
            <p:cNvSpPr/>
            <p:nvPr/>
          </p:nvSpPr>
          <p:spPr>
            <a:xfrm>
              <a:off x="411480" y="2432305"/>
              <a:ext cx="1417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1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Section count</a:t>
              </a:r>
              <a:endParaRPr lang="en-US" sz="851" dirty="0"/>
            </a:p>
          </p:txBody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736DDD7B-3E26-6690-6EC0-3345830EDC43}"/>
                </a:ext>
              </a:extLst>
            </p:cNvPr>
            <p:cNvSpPr/>
            <p:nvPr/>
          </p:nvSpPr>
          <p:spPr>
            <a:xfrm>
              <a:off x="1847088" y="2432305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5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structural depth</a:t>
              </a:r>
              <a:endParaRPr lang="en-US" sz="751" dirty="0"/>
            </a:p>
          </p:txBody>
        </p:sp>
        <p:sp>
          <p:nvSpPr>
            <p:cNvPr id="27" name="Shape 20">
              <a:extLst>
                <a:ext uri="{FF2B5EF4-FFF2-40B4-BE49-F238E27FC236}">
                  <a16:creationId xmlns:a16="http://schemas.microsoft.com/office/drawing/2014/main" id="{EAE88EED-B41D-DEEB-78DC-7CC0F61A6307}"/>
                </a:ext>
              </a:extLst>
            </p:cNvPr>
            <p:cNvSpPr/>
            <p:nvPr/>
          </p:nvSpPr>
          <p:spPr>
            <a:xfrm>
              <a:off x="320040" y="2761489"/>
              <a:ext cx="2743200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34E2A564-3E94-B591-81C3-52D3AC9FCDFF}"/>
                </a:ext>
              </a:extLst>
            </p:cNvPr>
            <p:cNvSpPr/>
            <p:nvPr/>
          </p:nvSpPr>
          <p:spPr>
            <a:xfrm>
              <a:off x="411480" y="2779777"/>
              <a:ext cx="1417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1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Unique editors</a:t>
              </a:r>
              <a:endParaRPr lang="en-US" sz="851" dirty="0"/>
            </a:p>
          </p:txBody>
        </p:sp>
        <p:sp>
          <p:nvSpPr>
            <p:cNvPr id="29" name="Text 22">
              <a:extLst>
                <a:ext uri="{FF2B5EF4-FFF2-40B4-BE49-F238E27FC236}">
                  <a16:creationId xmlns:a16="http://schemas.microsoft.com/office/drawing/2014/main" id="{F3F7676A-758C-B95A-0BB7-8E9477EF2BC9}"/>
                </a:ext>
              </a:extLst>
            </p:cNvPr>
            <p:cNvSpPr/>
            <p:nvPr/>
          </p:nvSpPr>
          <p:spPr>
            <a:xfrm>
              <a:off x="1847088" y="2779777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5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edit history</a:t>
              </a:r>
              <a:endParaRPr lang="en-US" sz="751" dirty="0"/>
            </a:p>
          </p:txBody>
        </p:sp>
        <p:sp>
          <p:nvSpPr>
            <p:cNvPr id="30" name="Shape 23">
              <a:extLst>
                <a:ext uri="{FF2B5EF4-FFF2-40B4-BE49-F238E27FC236}">
                  <a16:creationId xmlns:a16="http://schemas.microsoft.com/office/drawing/2014/main" id="{690AAA08-2046-5AA5-8818-A21774059859}"/>
                </a:ext>
              </a:extLst>
            </p:cNvPr>
            <p:cNvSpPr/>
            <p:nvPr/>
          </p:nvSpPr>
          <p:spPr>
            <a:xfrm>
              <a:off x="320040" y="3108961"/>
              <a:ext cx="2743200" cy="310896"/>
            </a:xfrm>
            <a:prstGeom prst="rect">
              <a:avLst/>
            </a:prstGeom>
            <a:solidFill>
              <a:srgbClr val="F8F9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4">
              <a:extLst>
                <a:ext uri="{FF2B5EF4-FFF2-40B4-BE49-F238E27FC236}">
                  <a16:creationId xmlns:a16="http://schemas.microsoft.com/office/drawing/2014/main" id="{C2489612-C658-3CE6-6B57-CE453599C182}"/>
                </a:ext>
              </a:extLst>
            </p:cNvPr>
            <p:cNvSpPr/>
            <p:nvPr/>
          </p:nvSpPr>
          <p:spPr>
            <a:xfrm>
              <a:off x="411480" y="3127249"/>
              <a:ext cx="1417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1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Article age</a:t>
              </a:r>
              <a:endParaRPr lang="en-US" sz="851" dirty="0"/>
            </a:p>
          </p:txBody>
        </p:sp>
        <p:sp>
          <p:nvSpPr>
            <p:cNvPr id="32" name="Text 25">
              <a:extLst>
                <a:ext uri="{FF2B5EF4-FFF2-40B4-BE49-F238E27FC236}">
                  <a16:creationId xmlns:a16="http://schemas.microsoft.com/office/drawing/2014/main" id="{00113A0A-2E49-3FD9-0729-9063342022F9}"/>
                </a:ext>
              </a:extLst>
            </p:cNvPr>
            <p:cNvSpPr/>
            <p:nvPr/>
          </p:nvSpPr>
          <p:spPr>
            <a:xfrm>
              <a:off x="1847088" y="3127249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5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days since created</a:t>
              </a:r>
              <a:endParaRPr lang="en-US" sz="751" dirty="0"/>
            </a:p>
          </p:txBody>
        </p:sp>
        <p:sp>
          <p:nvSpPr>
            <p:cNvPr id="33" name="Shape 26">
              <a:extLst>
                <a:ext uri="{FF2B5EF4-FFF2-40B4-BE49-F238E27FC236}">
                  <a16:creationId xmlns:a16="http://schemas.microsoft.com/office/drawing/2014/main" id="{0A82D449-9522-F589-584E-DEC25D5CAB00}"/>
                </a:ext>
              </a:extLst>
            </p:cNvPr>
            <p:cNvSpPr/>
            <p:nvPr/>
          </p:nvSpPr>
          <p:spPr>
            <a:xfrm>
              <a:off x="320040" y="3456433"/>
              <a:ext cx="2743200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27">
              <a:extLst>
                <a:ext uri="{FF2B5EF4-FFF2-40B4-BE49-F238E27FC236}">
                  <a16:creationId xmlns:a16="http://schemas.microsoft.com/office/drawing/2014/main" id="{072D67F2-F860-B22B-5F86-724C5418C8AF}"/>
                </a:ext>
              </a:extLst>
            </p:cNvPr>
            <p:cNvSpPr/>
            <p:nvPr/>
          </p:nvSpPr>
          <p:spPr>
            <a:xfrm>
              <a:off x="411480" y="3474721"/>
              <a:ext cx="1417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1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Edit recency ratio</a:t>
              </a:r>
              <a:endParaRPr lang="en-US" sz="851" dirty="0"/>
            </a:p>
          </p:txBody>
        </p:sp>
        <p:sp>
          <p:nvSpPr>
            <p:cNvPr id="35" name="Text 28">
              <a:extLst>
                <a:ext uri="{FF2B5EF4-FFF2-40B4-BE49-F238E27FC236}">
                  <a16:creationId xmlns:a16="http://schemas.microsoft.com/office/drawing/2014/main" id="{FE20AFAD-91C5-117C-E716-BB569CDEB23B}"/>
                </a:ext>
              </a:extLst>
            </p:cNvPr>
            <p:cNvSpPr/>
            <p:nvPr/>
          </p:nvSpPr>
          <p:spPr>
            <a:xfrm>
              <a:off x="1847088" y="3474721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5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recent vs all-time</a:t>
              </a:r>
              <a:endParaRPr lang="en-US" sz="751" dirty="0"/>
            </a:p>
          </p:txBody>
        </p:sp>
        <p:sp>
          <p:nvSpPr>
            <p:cNvPr id="36" name="Shape 29">
              <a:extLst>
                <a:ext uri="{FF2B5EF4-FFF2-40B4-BE49-F238E27FC236}">
                  <a16:creationId xmlns:a16="http://schemas.microsoft.com/office/drawing/2014/main" id="{F533C94C-1D3C-CCB7-698D-33366CB51B3F}"/>
                </a:ext>
              </a:extLst>
            </p:cNvPr>
            <p:cNvSpPr/>
            <p:nvPr/>
          </p:nvSpPr>
          <p:spPr>
            <a:xfrm>
              <a:off x="3154680" y="2560321"/>
              <a:ext cx="320040" cy="0"/>
            </a:xfrm>
            <a:prstGeom prst="line">
              <a:avLst/>
            </a:prstGeom>
            <a:noFill/>
            <a:ln w="254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30">
              <a:extLst>
                <a:ext uri="{FF2B5EF4-FFF2-40B4-BE49-F238E27FC236}">
                  <a16:creationId xmlns:a16="http://schemas.microsoft.com/office/drawing/2014/main" id="{4A9603DB-AD02-7FA0-1701-1AC70B381654}"/>
                </a:ext>
              </a:extLst>
            </p:cNvPr>
            <p:cNvSpPr/>
            <p:nvPr/>
          </p:nvSpPr>
          <p:spPr>
            <a:xfrm>
              <a:off x="3291840" y="2450593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6D28D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</a:t>
              </a:r>
              <a:endParaRPr lang="en-US" sz="1600" dirty="0"/>
            </a:p>
          </p:txBody>
        </p:sp>
        <p:sp>
          <p:nvSpPr>
            <p:cNvPr id="38" name="Shape 31">
              <a:extLst>
                <a:ext uri="{FF2B5EF4-FFF2-40B4-BE49-F238E27FC236}">
                  <a16:creationId xmlns:a16="http://schemas.microsoft.com/office/drawing/2014/main" id="{825D21C6-AC04-C4C9-B12E-AA81DC49D63D}"/>
                </a:ext>
              </a:extLst>
            </p:cNvPr>
            <p:cNvSpPr/>
            <p:nvPr/>
          </p:nvSpPr>
          <p:spPr>
            <a:xfrm>
              <a:off x="5989320" y="1005841"/>
              <a:ext cx="2926080" cy="32461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891B2">
                  <a:alpha val="45000"/>
                </a:srgbClr>
              </a:solidFill>
              <a:prstDash val="solid"/>
            </a:ln>
            <a:effectLst>
              <a:outerShdw blurRad="101600" dist="38100" dir="8100000" algn="bl" rotWithShape="0">
                <a:srgbClr val="1E293B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2">
              <a:extLst>
                <a:ext uri="{FF2B5EF4-FFF2-40B4-BE49-F238E27FC236}">
                  <a16:creationId xmlns:a16="http://schemas.microsoft.com/office/drawing/2014/main" id="{3C9CD3DB-BB03-B647-B6BD-5137D5646551}"/>
                </a:ext>
              </a:extLst>
            </p:cNvPr>
            <p:cNvSpPr/>
            <p:nvPr/>
          </p:nvSpPr>
          <p:spPr>
            <a:xfrm>
              <a:off x="5989320" y="1005841"/>
              <a:ext cx="2926080" cy="64008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0" name="Image 1" descr="preencoded.png">
              <a:extLst>
                <a:ext uri="{FF2B5EF4-FFF2-40B4-BE49-F238E27FC236}">
                  <a16:creationId xmlns:a16="http://schemas.microsoft.com/office/drawing/2014/main" id="{45FE53BE-DD15-0E61-6E39-1BA082EBB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7920" y="1115569"/>
              <a:ext cx="384048" cy="384048"/>
            </a:xfrm>
            <a:prstGeom prst="rect">
              <a:avLst/>
            </a:prstGeom>
          </p:spPr>
        </p:pic>
        <p:sp>
          <p:nvSpPr>
            <p:cNvPr id="41" name="Text 33">
              <a:extLst>
                <a:ext uri="{FF2B5EF4-FFF2-40B4-BE49-F238E27FC236}">
                  <a16:creationId xmlns:a16="http://schemas.microsoft.com/office/drawing/2014/main" id="{9648C45F-EC93-8213-022C-CD936422C4D4}"/>
                </a:ext>
              </a:extLst>
            </p:cNvPr>
            <p:cNvSpPr/>
            <p:nvPr/>
          </p:nvSpPr>
          <p:spPr>
            <a:xfrm>
              <a:off x="6720840" y="1097281"/>
              <a:ext cx="20116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00" b="1" kern="0" spc="200" dirty="0">
                  <a:solidFill>
                    <a:srgbClr val="0891B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Platform 2</a:t>
              </a:r>
              <a:endParaRPr lang="en-US" sz="800" dirty="0"/>
            </a:p>
          </p:txBody>
        </p:sp>
        <p:sp>
          <p:nvSpPr>
            <p:cNvPr id="42" name="Text 34">
              <a:extLst>
                <a:ext uri="{FF2B5EF4-FFF2-40B4-BE49-F238E27FC236}">
                  <a16:creationId xmlns:a16="http://schemas.microsoft.com/office/drawing/2014/main" id="{B7919ECB-FA69-FBF9-9EB4-486DD2FCE061}"/>
                </a:ext>
              </a:extLst>
            </p:cNvPr>
            <p:cNvSpPr/>
            <p:nvPr/>
          </p:nvSpPr>
          <p:spPr>
            <a:xfrm>
              <a:off x="6720840" y="1316737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Talk Pages</a:t>
              </a:r>
              <a:endParaRPr lang="en-US" sz="1300" dirty="0"/>
            </a:p>
          </p:txBody>
        </p:sp>
        <p:sp>
          <p:nvSpPr>
            <p:cNvPr id="43" name="Shape 35">
              <a:extLst>
                <a:ext uri="{FF2B5EF4-FFF2-40B4-BE49-F238E27FC236}">
                  <a16:creationId xmlns:a16="http://schemas.microsoft.com/office/drawing/2014/main" id="{EBB94E54-9495-77B9-0749-81BDB4D6FE92}"/>
                </a:ext>
              </a:extLst>
            </p:cNvPr>
            <p:cNvSpPr/>
            <p:nvPr/>
          </p:nvSpPr>
          <p:spPr>
            <a:xfrm>
              <a:off x="6080760" y="1719073"/>
              <a:ext cx="2743200" cy="310896"/>
            </a:xfrm>
            <a:prstGeom prst="rect">
              <a:avLst/>
            </a:prstGeom>
            <a:solidFill>
              <a:srgbClr val="F8F9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36">
              <a:extLst>
                <a:ext uri="{FF2B5EF4-FFF2-40B4-BE49-F238E27FC236}">
                  <a16:creationId xmlns:a16="http://schemas.microsoft.com/office/drawing/2014/main" id="{BEEBB34A-D5CA-ACC0-8E8D-DD2695AFC237}"/>
                </a:ext>
              </a:extLst>
            </p:cNvPr>
            <p:cNvSpPr/>
            <p:nvPr/>
          </p:nvSpPr>
          <p:spPr>
            <a:xfrm>
              <a:off x="6172200" y="1737361"/>
              <a:ext cx="1417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1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Revert count</a:t>
              </a:r>
              <a:endParaRPr lang="en-US" sz="851" dirty="0"/>
            </a:p>
          </p:txBody>
        </p:sp>
        <p:sp>
          <p:nvSpPr>
            <p:cNvPr id="45" name="Text 37">
              <a:extLst>
                <a:ext uri="{FF2B5EF4-FFF2-40B4-BE49-F238E27FC236}">
                  <a16:creationId xmlns:a16="http://schemas.microsoft.com/office/drawing/2014/main" id="{66D032DA-CB76-DA7F-773F-029879450411}"/>
                </a:ext>
              </a:extLst>
            </p:cNvPr>
            <p:cNvSpPr/>
            <p:nvPr/>
          </p:nvSpPr>
          <p:spPr>
            <a:xfrm>
              <a:off x="7607808" y="1737361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5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undid / reverted edits</a:t>
              </a:r>
              <a:endParaRPr lang="en-US" sz="751" dirty="0"/>
            </a:p>
          </p:txBody>
        </p:sp>
        <p:sp>
          <p:nvSpPr>
            <p:cNvPr id="46" name="Shape 38">
              <a:extLst>
                <a:ext uri="{FF2B5EF4-FFF2-40B4-BE49-F238E27FC236}">
                  <a16:creationId xmlns:a16="http://schemas.microsoft.com/office/drawing/2014/main" id="{16B96465-CA4D-D30E-9B6C-8652E0A49C02}"/>
                </a:ext>
              </a:extLst>
            </p:cNvPr>
            <p:cNvSpPr/>
            <p:nvPr/>
          </p:nvSpPr>
          <p:spPr>
            <a:xfrm>
              <a:off x="6080760" y="2066545"/>
              <a:ext cx="2743200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39">
              <a:extLst>
                <a:ext uri="{FF2B5EF4-FFF2-40B4-BE49-F238E27FC236}">
                  <a16:creationId xmlns:a16="http://schemas.microsoft.com/office/drawing/2014/main" id="{AE2DA6AC-8099-3651-DFC0-E08C2AEB9F85}"/>
                </a:ext>
              </a:extLst>
            </p:cNvPr>
            <p:cNvSpPr/>
            <p:nvPr/>
          </p:nvSpPr>
          <p:spPr>
            <a:xfrm>
              <a:off x="6172200" y="2084833"/>
              <a:ext cx="1417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1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Talk word count</a:t>
              </a:r>
              <a:endParaRPr lang="en-US" sz="851" dirty="0"/>
            </a:p>
          </p:txBody>
        </p:sp>
        <p:sp>
          <p:nvSpPr>
            <p:cNvPr id="48" name="Text 40">
              <a:extLst>
                <a:ext uri="{FF2B5EF4-FFF2-40B4-BE49-F238E27FC236}">
                  <a16:creationId xmlns:a16="http://schemas.microsoft.com/office/drawing/2014/main" id="{F2A22E26-6E4A-302D-B983-54D3BFE0E500}"/>
                </a:ext>
              </a:extLst>
            </p:cNvPr>
            <p:cNvSpPr/>
            <p:nvPr/>
          </p:nvSpPr>
          <p:spPr>
            <a:xfrm>
              <a:off x="7607808" y="2084833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5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volume of discussion</a:t>
              </a:r>
              <a:endParaRPr lang="en-US" sz="751" dirty="0"/>
            </a:p>
          </p:txBody>
        </p:sp>
        <p:sp>
          <p:nvSpPr>
            <p:cNvPr id="49" name="Shape 41">
              <a:extLst>
                <a:ext uri="{FF2B5EF4-FFF2-40B4-BE49-F238E27FC236}">
                  <a16:creationId xmlns:a16="http://schemas.microsoft.com/office/drawing/2014/main" id="{D7AC29A6-FD8E-7CD9-8BB3-665142CE7591}"/>
                </a:ext>
              </a:extLst>
            </p:cNvPr>
            <p:cNvSpPr/>
            <p:nvPr/>
          </p:nvSpPr>
          <p:spPr>
            <a:xfrm>
              <a:off x="6080760" y="2414017"/>
              <a:ext cx="2743200" cy="310896"/>
            </a:xfrm>
            <a:prstGeom prst="rect">
              <a:avLst/>
            </a:prstGeom>
            <a:solidFill>
              <a:srgbClr val="F8F9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42">
              <a:extLst>
                <a:ext uri="{FF2B5EF4-FFF2-40B4-BE49-F238E27FC236}">
                  <a16:creationId xmlns:a16="http://schemas.microsoft.com/office/drawing/2014/main" id="{D61D3FD0-0FE5-1B38-7D75-C39F69C18769}"/>
                </a:ext>
              </a:extLst>
            </p:cNvPr>
            <p:cNvSpPr/>
            <p:nvPr/>
          </p:nvSpPr>
          <p:spPr>
            <a:xfrm>
              <a:off x="6172200" y="2432305"/>
              <a:ext cx="1417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1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Unique participants</a:t>
              </a:r>
              <a:endParaRPr lang="en-US" sz="851" dirty="0"/>
            </a:p>
          </p:txBody>
        </p:sp>
        <p:sp>
          <p:nvSpPr>
            <p:cNvPr id="51" name="Text 43">
              <a:extLst>
                <a:ext uri="{FF2B5EF4-FFF2-40B4-BE49-F238E27FC236}">
                  <a16:creationId xmlns:a16="http://schemas.microsoft.com/office/drawing/2014/main" id="{4F521C6B-1A9A-0B05-B60A-3C6977344C0B}"/>
                </a:ext>
              </a:extLst>
            </p:cNvPr>
            <p:cNvSpPr/>
            <p:nvPr/>
          </p:nvSpPr>
          <p:spPr>
            <a:xfrm>
              <a:off x="7607808" y="2432305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5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how many editors argue</a:t>
              </a:r>
              <a:endParaRPr lang="en-US" sz="751" dirty="0"/>
            </a:p>
          </p:txBody>
        </p:sp>
        <p:sp>
          <p:nvSpPr>
            <p:cNvPr id="52" name="Shape 44">
              <a:extLst>
                <a:ext uri="{FF2B5EF4-FFF2-40B4-BE49-F238E27FC236}">
                  <a16:creationId xmlns:a16="http://schemas.microsoft.com/office/drawing/2014/main" id="{06EAE6C8-8FF6-699A-8139-CD42AD1060E3}"/>
                </a:ext>
              </a:extLst>
            </p:cNvPr>
            <p:cNvSpPr/>
            <p:nvPr/>
          </p:nvSpPr>
          <p:spPr>
            <a:xfrm>
              <a:off x="6080760" y="2761489"/>
              <a:ext cx="2743200" cy="3108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45">
              <a:extLst>
                <a:ext uri="{FF2B5EF4-FFF2-40B4-BE49-F238E27FC236}">
                  <a16:creationId xmlns:a16="http://schemas.microsoft.com/office/drawing/2014/main" id="{013B2454-85C3-C449-5F60-A1426CDCBCC7}"/>
                </a:ext>
              </a:extLst>
            </p:cNvPr>
            <p:cNvSpPr/>
            <p:nvPr/>
          </p:nvSpPr>
          <p:spPr>
            <a:xfrm>
              <a:off x="6172200" y="2779777"/>
              <a:ext cx="1417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1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Days since last edit</a:t>
              </a:r>
              <a:endParaRPr lang="en-US" sz="851" dirty="0"/>
            </a:p>
          </p:txBody>
        </p:sp>
        <p:sp>
          <p:nvSpPr>
            <p:cNvPr id="54" name="Text 46">
              <a:extLst>
                <a:ext uri="{FF2B5EF4-FFF2-40B4-BE49-F238E27FC236}">
                  <a16:creationId xmlns:a16="http://schemas.microsoft.com/office/drawing/2014/main" id="{538394FC-9618-45CF-4D50-44182A1D2C00}"/>
                </a:ext>
              </a:extLst>
            </p:cNvPr>
            <p:cNvSpPr/>
            <p:nvPr/>
          </p:nvSpPr>
          <p:spPr>
            <a:xfrm>
              <a:off x="7607808" y="2779777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751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recency of conflict</a:t>
              </a:r>
              <a:endParaRPr lang="en-US" sz="751" dirty="0"/>
            </a:p>
          </p:txBody>
        </p:sp>
        <p:sp>
          <p:nvSpPr>
            <p:cNvPr id="55" name="Shape 47">
              <a:extLst>
                <a:ext uri="{FF2B5EF4-FFF2-40B4-BE49-F238E27FC236}">
                  <a16:creationId xmlns:a16="http://schemas.microsoft.com/office/drawing/2014/main" id="{650EFE5A-6FD9-EE31-95E4-B0BD650035AD}"/>
                </a:ext>
              </a:extLst>
            </p:cNvPr>
            <p:cNvSpPr/>
            <p:nvPr/>
          </p:nvSpPr>
          <p:spPr>
            <a:xfrm>
              <a:off x="6080760" y="3163825"/>
              <a:ext cx="2743200" cy="914400"/>
            </a:xfrm>
            <a:prstGeom prst="rect">
              <a:avLst/>
            </a:prstGeom>
            <a:solidFill>
              <a:srgbClr val="E0F2FE"/>
            </a:solidFill>
            <a:ln w="12700">
              <a:solidFill>
                <a:srgbClr val="0891B2"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 48">
              <a:extLst>
                <a:ext uri="{FF2B5EF4-FFF2-40B4-BE49-F238E27FC236}">
                  <a16:creationId xmlns:a16="http://schemas.microsoft.com/office/drawing/2014/main" id="{FE9C54D3-5F47-0259-14C8-DA5B5268B8F8}"/>
                </a:ext>
              </a:extLst>
            </p:cNvPr>
            <p:cNvSpPr/>
            <p:nvPr/>
          </p:nvSpPr>
          <p:spPr>
            <a:xfrm>
              <a:off x="6172200" y="3200401"/>
              <a:ext cx="2560320" cy="8412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1" dirty="0">
                  <a:solidFill>
                    <a:srgbClr val="0E749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Used for independent validation — not for the model itself. If our labels are real, Talk Pages should show more conflict in contested articles.</a:t>
              </a:r>
              <a:endParaRPr lang="en-US" sz="851" dirty="0"/>
            </a:p>
          </p:txBody>
        </p:sp>
        <p:sp>
          <p:nvSpPr>
            <p:cNvPr id="57" name="Shape 49">
              <a:extLst>
                <a:ext uri="{FF2B5EF4-FFF2-40B4-BE49-F238E27FC236}">
                  <a16:creationId xmlns:a16="http://schemas.microsoft.com/office/drawing/2014/main" id="{9100F5DC-D860-A884-63C1-1B2B0A48C3A5}"/>
                </a:ext>
              </a:extLst>
            </p:cNvPr>
            <p:cNvSpPr/>
            <p:nvPr/>
          </p:nvSpPr>
          <p:spPr>
            <a:xfrm>
              <a:off x="5669280" y="2560321"/>
              <a:ext cx="320040" cy="0"/>
            </a:xfrm>
            <a:prstGeom prst="line">
              <a:avLst/>
            </a:prstGeom>
            <a:noFill/>
            <a:ln w="254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50">
              <a:extLst>
                <a:ext uri="{FF2B5EF4-FFF2-40B4-BE49-F238E27FC236}">
                  <a16:creationId xmlns:a16="http://schemas.microsoft.com/office/drawing/2014/main" id="{B311C44F-D669-C4C3-FC77-77363C1F09E7}"/>
                </a:ext>
              </a:extLst>
            </p:cNvPr>
            <p:cNvSpPr/>
            <p:nvPr/>
          </p:nvSpPr>
          <p:spPr>
            <a:xfrm>
              <a:off x="5705856" y="2450593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dirty="0">
                  <a:solidFill>
                    <a:srgbClr val="0891B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45660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ED0A4-B0BC-F526-16A5-4EEB7B468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88A598-5BEE-9774-1BE8-6D4323670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2DC5-E076-7042-84F0-87DE15B3C54F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C848DE-2B25-2A0A-0D7A-ED0729316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 spc="20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EE2A3-F31C-7BFA-373D-AB2F0F3B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82C88-8D7F-FA4B-9D04-DF06D6EBA90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2A9CD953-3449-7C5E-CEA4-D6FC1F38BE34}"/>
              </a:ext>
            </a:extLst>
          </p:cNvPr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3808E65-1DBE-B4B7-6B2F-E42A8C62E53C}"/>
              </a:ext>
            </a:extLst>
          </p:cNvPr>
          <p:cNvSpPr/>
          <p:nvPr/>
        </p:nvSpPr>
        <p:spPr>
          <a:xfrm>
            <a:off x="365760" y="640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FE92D3E-FADB-7B65-8D83-733202D450D6}"/>
              </a:ext>
            </a:extLst>
          </p:cNvPr>
          <p:cNvSpPr/>
          <p:nvPr/>
        </p:nvSpPr>
        <p:spPr>
          <a:xfrm>
            <a:off x="365760" y="27432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main question. Three things we will answer.</a:t>
            </a:r>
            <a:endParaRPr lang="en-US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924BD76-2FAE-D13B-716B-6463C5C8DBCB}"/>
              </a:ext>
            </a:extLst>
          </p:cNvPr>
          <p:cNvGrpSpPr/>
          <p:nvPr/>
        </p:nvGrpSpPr>
        <p:grpSpPr>
          <a:xfrm>
            <a:off x="452313" y="896112"/>
            <a:ext cx="11287375" cy="5350509"/>
            <a:chOff x="320040" y="896113"/>
            <a:chExt cx="8449056" cy="4005072"/>
          </a:xfrm>
        </p:grpSpPr>
        <p:sp>
          <p:nvSpPr>
            <p:cNvPr id="85" name="Shape 3">
              <a:extLst>
                <a:ext uri="{FF2B5EF4-FFF2-40B4-BE49-F238E27FC236}">
                  <a16:creationId xmlns:a16="http://schemas.microsoft.com/office/drawing/2014/main" id="{4B2BC862-CF59-D607-867A-3FD70D3E3E6C}"/>
                </a:ext>
              </a:extLst>
            </p:cNvPr>
            <p:cNvSpPr/>
            <p:nvPr/>
          </p:nvSpPr>
          <p:spPr>
            <a:xfrm>
              <a:off x="457200" y="896113"/>
              <a:ext cx="8229600" cy="8412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6D28D9">
                  <a:alpha val="55000"/>
                </a:srgbClr>
              </a:solidFill>
              <a:prstDash val="solid"/>
            </a:ln>
            <a:effectLst>
              <a:outerShdw blurRad="101600" dist="38100" dir="8100000" algn="bl" rotWithShape="0">
                <a:srgbClr val="1E293B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Shape 4">
              <a:extLst>
                <a:ext uri="{FF2B5EF4-FFF2-40B4-BE49-F238E27FC236}">
                  <a16:creationId xmlns:a16="http://schemas.microsoft.com/office/drawing/2014/main" id="{79CC93E5-BC76-C7EF-B8F3-31425AA35C98}"/>
                </a:ext>
              </a:extLst>
            </p:cNvPr>
            <p:cNvSpPr/>
            <p:nvPr/>
          </p:nvSpPr>
          <p:spPr>
            <a:xfrm>
              <a:off x="457200" y="896113"/>
              <a:ext cx="64008" cy="841248"/>
            </a:xfrm>
            <a:prstGeom prst="rect">
              <a:avLst/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5">
              <a:extLst>
                <a:ext uri="{FF2B5EF4-FFF2-40B4-BE49-F238E27FC236}">
                  <a16:creationId xmlns:a16="http://schemas.microsoft.com/office/drawing/2014/main" id="{6D5588CE-2CF4-FE0E-9833-D8AC841745F0}"/>
                </a:ext>
              </a:extLst>
            </p:cNvPr>
            <p:cNvSpPr/>
            <p:nvPr/>
          </p:nvSpPr>
          <p:spPr>
            <a:xfrm>
              <a:off x="658368" y="932689"/>
              <a:ext cx="7863840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i="1" dirty="0">
                  <a:solidFill>
                    <a:srgbClr val="0F172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Can linguistic and structural features of Wikipedia articles predict whether an article is editorially contested, and do these patterns differ between English and German editions?</a:t>
              </a:r>
              <a:endParaRPr lang="en-US" sz="1200" dirty="0"/>
            </a:p>
          </p:txBody>
        </p:sp>
        <p:sp>
          <p:nvSpPr>
            <p:cNvPr id="88" name="Shape 6">
              <a:extLst>
                <a:ext uri="{FF2B5EF4-FFF2-40B4-BE49-F238E27FC236}">
                  <a16:creationId xmlns:a16="http://schemas.microsoft.com/office/drawing/2014/main" id="{3F55DA0C-CCBB-4BF6-DB37-12EE0580A9CE}"/>
                </a:ext>
              </a:extLst>
            </p:cNvPr>
            <p:cNvSpPr/>
            <p:nvPr/>
          </p:nvSpPr>
          <p:spPr>
            <a:xfrm>
              <a:off x="320040" y="1883665"/>
              <a:ext cx="2743200" cy="30175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6D28D9">
                  <a:alpha val="40000"/>
                </a:srgbClr>
              </a:solidFill>
              <a:prstDash val="solid"/>
            </a:ln>
            <a:effectLst>
              <a:outerShdw blurRad="101600" dist="38100" dir="8100000" algn="bl" rotWithShape="0">
                <a:srgbClr val="1E293B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Shape 7">
              <a:extLst>
                <a:ext uri="{FF2B5EF4-FFF2-40B4-BE49-F238E27FC236}">
                  <a16:creationId xmlns:a16="http://schemas.microsoft.com/office/drawing/2014/main" id="{666409DA-E648-2C4C-A7B0-43063632CAE1}"/>
                </a:ext>
              </a:extLst>
            </p:cNvPr>
            <p:cNvSpPr/>
            <p:nvPr/>
          </p:nvSpPr>
          <p:spPr>
            <a:xfrm>
              <a:off x="320040" y="1883665"/>
              <a:ext cx="2743200" cy="64008"/>
            </a:xfrm>
            <a:prstGeom prst="rect">
              <a:avLst/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Shape 8">
              <a:extLst>
                <a:ext uri="{FF2B5EF4-FFF2-40B4-BE49-F238E27FC236}">
                  <a16:creationId xmlns:a16="http://schemas.microsoft.com/office/drawing/2014/main" id="{B2EC856C-0E39-93E8-7009-70F022C7D4A4}"/>
                </a:ext>
              </a:extLst>
            </p:cNvPr>
            <p:cNvSpPr/>
            <p:nvPr/>
          </p:nvSpPr>
          <p:spPr>
            <a:xfrm>
              <a:off x="1344168" y="2011681"/>
              <a:ext cx="694944" cy="694944"/>
            </a:xfrm>
            <a:prstGeom prst="ellipse">
              <a:avLst/>
            </a:prstGeom>
            <a:solidFill>
              <a:srgbClr val="EDE9FE"/>
            </a:solidFill>
            <a:ln w="12700">
              <a:solidFill>
                <a:srgbClr val="6D28D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 9">
              <a:extLst>
                <a:ext uri="{FF2B5EF4-FFF2-40B4-BE49-F238E27FC236}">
                  <a16:creationId xmlns:a16="http://schemas.microsoft.com/office/drawing/2014/main" id="{64434E40-E1CD-4793-40D1-001FE211D655}"/>
                </a:ext>
              </a:extLst>
            </p:cNvPr>
            <p:cNvSpPr/>
            <p:nvPr/>
          </p:nvSpPr>
          <p:spPr>
            <a:xfrm>
              <a:off x="1344168" y="2011681"/>
              <a:ext cx="694944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200" b="1" dirty="0">
                  <a:solidFill>
                    <a:srgbClr val="6D28D9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①</a:t>
              </a:r>
              <a:endParaRPr lang="en-US" sz="2200" dirty="0"/>
            </a:p>
          </p:txBody>
        </p:sp>
        <p:pic>
          <p:nvPicPr>
            <p:cNvPr id="92" name="Image 0" descr="preencoded.png">
              <a:extLst>
                <a:ext uri="{FF2B5EF4-FFF2-40B4-BE49-F238E27FC236}">
                  <a16:creationId xmlns:a16="http://schemas.microsoft.com/office/drawing/2014/main" id="{69CEE47F-B3F3-AFD8-5350-0286A9D2E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53896" y="2843785"/>
              <a:ext cx="475488" cy="475488"/>
            </a:xfrm>
            <a:prstGeom prst="rect">
              <a:avLst/>
            </a:prstGeom>
          </p:spPr>
        </p:pic>
        <p:sp>
          <p:nvSpPr>
            <p:cNvPr id="93" name="Text 10">
              <a:extLst>
                <a:ext uri="{FF2B5EF4-FFF2-40B4-BE49-F238E27FC236}">
                  <a16:creationId xmlns:a16="http://schemas.microsoft.com/office/drawing/2014/main" id="{D65F01C3-6C20-D021-B3C1-145982564685}"/>
                </a:ext>
              </a:extLst>
            </p:cNvPr>
            <p:cNvSpPr/>
            <p:nvPr/>
          </p:nvSpPr>
          <p:spPr>
            <a:xfrm>
              <a:off x="457200" y="3456433"/>
              <a:ext cx="24688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Which features best distinguish contested from stable?</a:t>
              </a:r>
              <a:endParaRPr lang="en-US" sz="1100" dirty="0"/>
            </a:p>
          </p:txBody>
        </p:sp>
        <p:sp>
          <p:nvSpPr>
            <p:cNvPr id="94" name="Text 11">
              <a:extLst>
                <a:ext uri="{FF2B5EF4-FFF2-40B4-BE49-F238E27FC236}">
                  <a16:creationId xmlns:a16="http://schemas.microsoft.com/office/drawing/2014/main" id="{E5BEF0E6-F264-836F-876E-944F53442776}"/>
                </a:ext>
              </a:extLst>
            </p:cNvPr>
            <p:cNvSpPr/>
            <p:nvPr/>
          </p:nvSpPr>
          <p:spPr>
            <a:xfrm>
              <a:off x="457200" y="4059937"/>
              <a:ext cx="24688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 rank features by their logistic regression coefficient — the output is a clear visual showing which linguistic signals matter most.</a:t>
              </a:r>
              <a:endParaRPr lang="en-US" sz="851" dirty="0"/>
            </a:p>
          </p:txBody>
        </p:sp>
        <p:sp>
          <p:nvSpPr>
            <p:cNvPr id="95" name="Shape 12">
              <a:extLst>
                <a:ext uri="{FF2B5EF4-FFF2-40B4-BE49-F238E27FC236}">
                  <a16:creationId xmlns:a16="http://schemas.microsoft.com/office/drawing/2014/main" id="{1BE11CB9-2BBE-38CA-C236-51DB60CE6245}"/>
                </a:ext>
              </a:extLst>
            </p:cNvPr>
            <p:cNvSpPr/>
            <p:nvPr/>
          </p:nvSpPr>
          <p:spPr>
            <a:xfrm>
              <a:off x="3172968" y="1883665"/>
              <a:ext cx="2743200" cy="30175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891B2">
                  <a:alpha val="40000"/>
                </a:srgbClr>
              </a:solidFill>
              <a:prstDash val="solid"/>
            </a:ln>
            <a:effectLst>
              <a:outerShdw blurRad="101600" dist="38100" dir="8100000" algn="bl" rotWithShape="0">
                <a:srgbClr val="1E293B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Shape 13">
              <a:extLst>
                <a:ext uri="{FF2B5EF4-FFF2-40B4-BE49-F238E27FC236}">
                  <a16:creationId xmlns:a16="http://schemas.microsoft.com/office/drawing/2014/main" id="{096894F5-9224-F42C-CA3B-DE0B03D2AF0D}"/>
                </a:ext>
              </a:extLst>
            </p:cNvPr>
            <p:cNvSpPr/>
            <p:nvPr/>
          </p:nvSpPr>
          <p:spPr>
            <a:xfrm>
              <a:off x="3172968" y="1883665"/>
              <a:ext cx="2743200" cy="64008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Shape 14">
              <a:extLst>
                <a:ext uri="{FF2B5EF4-FFF2-40B4-BE49-F238E27FC236}">
                  <a16:creationId xmlns:a16="http://schemas.microsoft.com/office/drawing/2014/main" id="{339F8179-5961-0F1A-EF0C-F4CA145D4BB2}"/>
                </a:ext>
              </a:extLst>
            </p:cNvPr>
            <p:cNvSpPr/>
            <p:nvPr/>
          </p:nvSpPr>
          <p:spPr>
            <a:xfrm>
              <a:off x="4197096" y="2011681"/>
              <a:ext cx="694944" cy="694944"/>
            </a:xfrm>
            <a:prstGeom prst="ellipse">
              <a:avLst/>
            </a:prstGeom>
            <a:solidFill>
              <a:srgbClr val="E0F2FE"/>
            </a:solidFill>
            <a:ln w="12700">
              <a:solidFill>
                <a:srgbClr val="0891B2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 15">
              <a:extLst>
                <a:ext uri="{FF2B5EF4-FFF2-40B4-BE49-F238E27FC236}">
                  <a16:creationId xmlns:a16="http://schemas.microsoft.com/office/drawing/2014/main" id="{311AA598-61EB-AC43-69E4-B0E6653A7249}"/>
                </a:ext>
              </a:extLst>
            </p:cNvPr>
            <p:cNvSpPr/>
            <p:nvPr/>
          </p:nvSpPr>
          <p:spPr>
            <a:xfrm>
              <a:off x="4197096" y="2011681"/>
              <a:ext cx="694944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200" b="1" dirty="0">
                  <a:solidFill>
                    <a:srgbClr val="0891B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②</a:t>
              </a:r>
              <a:endParaRPr lang="en-US" sz="2200" dirty="0"/>
            </a:p>
          </p:txBody>
        </p:sp>
        <p:pic>
          <p:nvPicPr>
            <p:cNvPr id="99" name="Image 1" descr="preencoded.png">
              <a:extLst>
                <a:ext uri="{FF2B5EF4-FFF2-40B4-BE49-F238E27FC236}">
                  <a16:creationId xmlns:a16="http://schemas.microsoft.com/office/drawing/2014/main" id="{84676476-30A5-6ACF-8D38-E221B947A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06824" y="2843785"/>
              <a:ext cx="475488" cy="475488"/>
            </a:xfrm>
            <a:prstGeom prst="rect">
              <a:avLst/>
            </a:prstGeom>
          </p:spPr>
        </p:pic>
        <p:sp>
          <p:nvSpPr>
            <p:cNvPr id="100" name="Text 16">
              <a:extLst>
                <a:ext uri="{FF2B5EF4-FFF2-40B4-BE49-F238E27FC236}">
                  <a16:creationId xmlns:a16="http://schemas.microsoft.com/office/drawing/2014/main" id="{4B1E6427-D45E-2906-95A8-604A8C81D603}"/>
                </a:ext>
              </a:extLst>
            </p:cNvPr>
            <p:cNvSpPr/>
            <p:nvPr/>
          </p:nvSpPr>
          <p:spPr>
            <a:xfrm>
              <a:off x="3310128" y="3456433"/>
              <a:ext cx="24688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 Talk Page signals validate our labels?</a:t>
              </a:r>
              <a:endParaRPr lang="en-US" sz="1100" dirty="0"/>
            </a:p>
          </p:txBody>
        </p:sp>
        <p:sp>
          <p:nvSpPr>
            <p:cNvPr id="101" name="Text 17">
              <a:extLst>
                <a:ext uri="{FF2B5EF4-FFF2-40B4-BE49-F238E27FC236}">
                  <a16:creationId xmlns:a16="http://schemas.microsoft.com/office/drawing/2014/main" id="{E00AC394-6F19-B1E2-07DD-C8664527501C}"/>
                </a:ext>
              </a:extLst>
            </p:cNvPr>
            <p:cNvSpPr/>
            <p:nvPr/>
          </p:nvSpPr>
          <p:spPr>
            <a:xfrm>
              <a:off x="3310128" y="4059937"/>
              <a:ext cx="24688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If {{POV}} templates genuinely mark disputed articles, their Talk Pages should show more reverts and conflict than Featured Articles. We test this with Mann-Whitney U.</a:t>
              </a:r>
              <a:endParaRPr lang="en-US" sz="851" dirty="0"/>
            </a:p>
          </p:txBody>
        </p:sp>
        <p:sp>
          <p:nvSpPr>
            <p:cNvPr id="102" name="Shape 18">
              <a:extLst>
                <a:ext uri="{FF2B5EF4-FFF2-40B4-BE49-F238E27FC236}">
                  <a16:creationId xmlns:a16="http://schemas.microsoft.com/office/drawing/2014/main" id="{B3FD4618-A53F-133B-0304-A11BC0462F1A}"/>
                </a:ext>
              </a:extLst>
            </p:cNvPr>
            <p:cNvSpPr/>
            <p:nvPr/>
          </p:nvSpPr>
          <p:spPr>
            <a:xfrm>
              <a:off x="6025896" y="1883665"/>
              <a:ext cx="2743200" cy="30175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59669">
                  <a:alpha val="40000"/>
                </a:srgbClr>
              </a:solidFill>
              <a:prstDash val="solid"/>
            </a:ln>
            <a:effectLst>
              <a:outerShdw blurRad="101600" dist="38100" dir="8100000" algn="bl" rotWithShape="0">
                <a:srgbClr val="1E293B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Shape 19">
              <a:extLst>
                <a:ext uri="{FF2B5EF4-FFF2-40B4-BE49-F238E27FC236}">
                  <a16:creationId xmlns:a16="http://schemas.microsoft.com/office/drawing/2014/main" id="{C86289D1-8E9F-09D8-98CD-5A3BC0A35717}"/>
                </a:ext>
              </a:extLst>
            </p:cNvPr>
            <p:cNvSpPr/>
            <p:nvPr/>
          </p:nvSpPr>
          <p:spPr>
            <a:xfrm>
              <a:off x="6025896" y="1883665"/>
              <a:ext cx="2743200" cy="64008"/>
            </a:xfrm>
            <a:prstGeom prst="rect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Shape 20">
              <a:extLst>
                <a:ext uri="{FF2B5EF4-FFF2-40B4-BE49-F238E27FC236}">
                  <a16:creationId xmlns:a16="http://schemas.microsoft.com/office/drawing/2014/main" id="{75A60F84-39D9-CCA4-0DFD-B905CD5ACAD5}"/>
                </a:ext>
              </a:extLst>
            </p:cNvPr>
            <p:cNvSpPr/>
            <p:nvPr/>
          </p:nvSpPr>
          <p:spPr>
            <a:xfrm>
              <a:off x="7050024" y="2011681"/>
              <a:ext cx="694944" cy="694944"/>
            </a:xfrm>
            <a:prstGeom prst="ellipse">
              <a:avLst/>
            </a:prstGeom>
            <a:solidFill>
              <a:srgbClr val="D1FAE5"/>
            </a:solidFill>
            <a:ln w="12700">
              <a:solidFill>
                <a:srgbClr val="059669">
                  <a:alpha val="5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Text 21">
              <a:extLst>
                <a:ext uri="{FF2B5EF4-FFF2-40B4-BE49-F238E27FC236}">
                  <a16:creationId xmlns:a16="http://schemas.microsoft.com/office/drawing/2014/main" id="{7F4B8424-13EE-E171-DFC9-196E7B121E91}"/>
                </a:ext>
              </a:extLst>
            </p:cNvPr>
            <p:cNvSpPr/>
            <p:nvPr/>
          </p:nvSpPr>
          <p:spPr>
            <a:xfrm>
              <a:off x="7050024" y="2011681"/>
              <a:ext cx="694944" cy="6949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200" b="1" dirty="0">
                  <a:solidFill>
                    <a:srgbClr val="059669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③</a:t>
              </a:r>
              <a:endParaRPr lang="en-US" sz="2200" dirty="0"/>
            </a:p>
          </p:txBody>
        </p:sp>
        <p:pic>
          <p:nvPicPr>
            <p:cNvPr id="106" name="Image 2" descr="preencoded.png">
              <a:extLst>
                <a:ext uri="{FF2B5EF4-FFF2-40B4-BE49-F238E27FC236}">
                  <a16:creationId xmlns:a16="http://schemas.microsoft.com/office/drawing/2014/main" id="{8AA7E162-8B22-466D-E11A-31260C6A9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59752" y="2843785"/>
              <a:ext cx="475488" cy="475488"/>
            </a:xfrm>
            <a:prstGeom prst="rect">
              <a:avLst/>
            </a:prstGeom>
          </p:spPr>
        </p:pic>
        <p:sp>
          <p:nvSpPr>
            <p:cNvPr id="107" name="Text 22">
              <a:extLst>
                <a:ext uri="{FF2B5EF4-FFF2-40B4-BE49-F238E27FC236}">
                  <a16:creationId xmlns:a16="http://schemas.microsoft.com/office/drawing/2014/main" id="{B807B6B2-F11D-3935-76C1-BF4310A2597E}"/>
                </a:ext>
              </a:extLst>
            </p:cNvPr>
            <p:cNvSpPr/>
            <p:nvPr/>
          </p:nvSpPr>
          <p:spPr>
            <a:xfrm>
              <a:off x="6163056" y="3456433"/>
              <a:ext cx="24688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b="1" dirty="0">
                  <a:solidFill>
                    <a:srgbClr val="0F17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Are predictive features consistent across EN and DE?</a:t>
              </a:r>
              <a:endParaRPr lang="en-US" sz="1100" dirty="0"/>
            </a:p>
          </p:txBody>
        </p:sp>
        <p:sp>
          <p:nvSpPr>
            <p:cNvPr id="108" name="Text 23">
              <a:extLst>
                <a:ext uri="{FF2B5EF4-FFF2-40B4-BE49-F238E27FC236}">
                  <a16:creationId xmlns:a16="http://schemas.microsoft.com/office/drawing/2014/main" id="{DD1B4CFC-FCB2-2138-6492-C70ABA45207F}"/>
                </a:ext>
              </a:extLst>
            </p:cNvPr>
            <p:cNvSpPr/>
            <p:nvPr/>
          </p:nvSpPr>
          <p:spPr>
            <a:xfrm>
              <a:off x="6163056" y="4059937"/>
              <a:ext cx="246888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 train separate models for each language and compare coefficients. Either the same features matter (universal signal) or they differ (cultural difference in how disputes are written).</a:t>
              </a:r>
              <a:endParaRPr lang="en-US" sz="851" dirty="0"/>
            </a:p>
          </p:txBody>
        </p:sp>
      </p:grpSp>
    </p:spTree>
    <p:extLst>
      <p:ext uri="{BB962C8B-B14F-4D97-AF65-F5344CB8AC3E}">
        <p14:creationId xmlns:p14="http://schemas.microsoft.com/office/powerpoint/2010/main" val="2751886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F8CB9-A374-D4D8-EC6E-C961A5A5D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E78A7B-14A2-0C7C-6747-824BD29DF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2DC5-E076-7042-84F0-87DE15B3C54F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3B1818-E7A7-3A62-2C13-01030A802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 spc="20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71276-BEA9-4D52-5686-997433B0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82C88-8D7F-FA4B-9D04-DF06D6EBA90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8AC4639-14B4-184C-212C-E1EC2910FB5A}"/>
              </a:ext>
            </a:extLst>
          </p:cNvPr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3B16F54-CC32-974D-1654-6AC1EAB90322}"/>
              </a:ext>
            </a:extLst>
          </p:cNvPr>
          <p:cNvSpPr/>
          <p:nvPr/>
        </p:nvSpPr>
        <p:spPr>
          <a:xfrm>
            <a:off x="365760" y="640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Strategy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0040A44-524C-AD54-6AD7-ABAF2C84338C}"/>
              </a:ext>
            </a:extLst>
          </p:cNvPr>
          <p:cNvSpPr/>
          <p:nvPr/>
        </p:nvSpPr>
        <p:spPr>
          <a:xfrm>
            <a:off x="365760" y="27432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info goes here 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881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54577-56D2-0350-A0BB-A63A0DBD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03396-B729-E647-D8B1-1CE28E17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2DC5-E076-7042-84F0-87DE15B3C54F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1A567F-DBA1-B181-D041-E72B0E36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 spc="20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C0535-BBB2-8382-0611-679F2AFC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82C88-8D7F-FA4B-9D04-DF06D6EBA90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84B2EDC9-22D2-BE33-D713-0F6B43AC512B}"/>
              </a:ext>
            </a:extLst>
          </p:cNvPr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1B8D759-C79F-73B2-67DE-A646BE258DA9}"/>
              </a:ext>
            </a:extLst>
          </p:cNvPr>
          <p:cNvSpPr/>
          <p:nvPr/>
        </p:nvSpPr>
        <p:spPr>
          <a:xfrm>
            <a:off x="365760" y="640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E2FF70A-A5CB-3CA6-258D-F0251EF54C39}"/>
              </a:ext>
            </a:extLst>
          </p:cNvPr>
          <p:cNvSpPr/>
          <p:nvPr/>
        </p:nvSpPr>
        <p:spPr>
          <a:xfrm>
            <a:off x="365760" y="27432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info goes here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97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17980-7F56-62B4-0784-9FF62E3A1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5B886-6535-EBFC-B525-182D0B55C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https://wikimediafoundation.org/#:~:text=With%20over%2065%20million%20articles,home%20of%20trusted%20information%20online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https://wikimediafoundation.org/#map-1752170660413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57A6-C4EF-B1C4-4999-5C04D889F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2A9FF-870A-4040-B8AF-C58A6BBBB242}" type="datetime1">
              <a:rPr lang="en-US" smtClean="0"/>
              <a:t>4/19/26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D3C4C-D4BC-447B-720B-A96C3C1F3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kern="0" spc="200">
                <a:latin typeface="Calibri" pitchFamily="34" charset="0"/>
                <a:ea typeface="Calibri" pitchFamily="34" charset="-122"/>
                <a:cs typeface="Calibri" pitchFamily="34" charset="-120"/>
              </a:rPr>
              <a:t>IS-618  ·  Social Media Data Analysis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561D1-5D2E-36C3-E0C5-054D829F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82C88-8D7F-FA4B-9D04-DF06D6EBA90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723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657</Words>
  <Application>Microsoft Macintosh PowerPoint</Application>
  <PresentationFormat>Widescreen</PresentationFormat>
  <Paragraphs>125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Marmee Pandya</dc:creator>
  <cp:lastModifiedBy>Marmee Pandya</cp:lastModifiedBy>
  <cp:revision>13</cp:revision>
  <dcterms:created xsi:type="dcterms:W3CDTF">2026-04-19T10:15:40Z</dcterms:created>
  <dcterms:modified xsi:type="dcterms:W3CDTF">2026-04-19T14:50:54Z</dcterms:modified>
</cp:coreProperties>
</file>